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4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69" r:id="rId2"/>
    <p:sldId id="282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4" r:id="rId13"/>
    <p:sldId id="295" r:id="rId14"/>
    <p:sldId id="296" r:id="rId15"/>
    <p:sldId id="29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257" autoAdjust="0"/>
  </p:normalViewPr>
  <p:slideViewPr>
    <p:cSldViewPr snapToGrid="0">
      <p:cViewPr>
        <p:scale>
          <a:sx n="75" d="100"/>
          <a:sy n="75" d="100"/>
        </p:scale>
        <p:origin x="974" y="3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BD8F-8249-418B-8B90-DC15BE5FFE7D}" type="datetimeFigureOut">
              <a:rPr lang="zh-CN" altLang="en-US" smtClean="0"/>
              <a:t>2025-12-28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8B709-013D-4E6E-AA0D-CDBB0874B3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这些临床变量从</a:t>
            </a:r>
            <a:r>
              <a:rPr lang="en-US" altLang="zh-CN" dirty="0"/>
              <a:t> </a:t>
            </a:r>
            <a:r>
              <a:rPr lang="zh-CN" altLang="en-US" dirty="0"/>
              <a:t>人口学特征、肿瘤负荷、病理分级、分子亚型及激素环境</a:t>
            </a:r>
            <a:r>
              <a:rPr lang="en-US" altLang="zh-CN" dirty="0"/>
              <a:t> </a:t>
            </a:r>
            <a:r>
              <a:rPr lang="zh-CN" altLang="en-US" dirty="0"/>
              <a:t>多个层面刻画影响肿瘤大小的关键信息。</a:t>
            </a:r>
          </a:p>
          <a:p>
            <a:r>
              <a:rPr lang="en-US" altLang="zh-CN" dirty="0"/>
              <a:t>Q</a:t>
            </a:r>
            <a:r>
              <a:rPr lang="zh-CN" altLang="en-US" dirty="0"/>
              <a:t>：为什么把</a:t>
            </a:r>
            <a:r>
              <a:rPr lang="en-US" altLang="zh-CN" dirty="0"/>
              <a:t> cohort </a:t>
            </a:r>
            <a:r>
              <a:rPr lang="zh-CN" altLang="en-US" dirty="0"/>
              <a:t>也当作临床变量？</a:t>
            </a:r>
          </a:p>
          <a:p>
            <a:r>
              <a:rPr lang="en-US" altLang="zh-CN" dirty="0"/>
              <a:t>A</a:t>
            </a:r>
            <a:r>
              <a:rPr lang="zh-CN" altLang="en-US" dirty="0"/>
              <a:t>：</a:t>
            </a:r>
            <a:r>
              <a:rPr lang="en-US" altLang="zh-CN" dirty="0"/>
              <a:t> cohort </a:t>
            </a:r>
            <a:r>
              <a:rPr lang="zh-CN" altLang="en-US" dirty="0"/>
              <a:t>并非生物学解释变量，而是用于控制不同数据来源、检测平台或纳入标准带来的系统偏倚，防止模型将批次效应误当作生物学信号。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我们的因变量是肿瘤大小（单位：</a:t>
            </a:r>
            <a:r>
              <a:rPr lang="en-US" altLang="zh-CN" dirty="0"/>
              <a:t>mm</a:t>
            </a:r>
            <a:r>
              <a:rPr lang="zh-CN" altLang="en-US" dirty="0"/>
              <a:t>），这是一个连续型指标。</a:t>
            </a:r>
          </a:p>
          <a:p>
            <a:r>
              <a:rPr lang="zh-CN" altLang="en-US" dirty="0"/>
              <a:t>首先，数据质量很高</a:t>
            </a:r>
            <a:r>
              <a:rPr lang="en-US" altLang="zh-CN" dirty="0"/>
              <a:t>——</a:t>
            </a:r>
            <a:r>
              <a:rPr lang="zh-CN" altLang="en-US" dirty="0"/>
              <a:t>缺失率仅</a:t>
            </a:r>
            <a:r>
              <a:rPr lang="en-US" altLang="zh-CN" dirty="0"/>
              <a:t> 1.05%</a:t>
            </a:r>
            <a:r>
              <a:rPr lang="zh-CN" altLang="en-US" dirty="0"/>
              <a:t>，我们直接删除了缺失样本（共</a:t>
            </a:r>
            <a:r>
              <a:rPr lang="en-US" altLang="zh-CN" dirty="0"/>
              <a:t> 20 </a:t>
            </a:r>
            <a:r>
              <a:rPr lang="zh-CN" altLang="en-US" dirty="0"/>
              <a:t>例），这在回归分析中是标准做法（因变量不可插补）。</a:t>
            </a:r>
          </a:p>
          <a:p>
            <a:r>
              <a:rPr lang="zh-CN" altLang="en-US" dirty="0"/>
              <a:t>其次，原始分布严重右偏（偏度</a:t>
            </a:r>
            <a:r>
              <a:rPr lang="en-US" altLang="zh-CN" dirty="0"/>
              <a:t>=2.1</a:t>
            </a:r>
            <a:r>
              <a:rPr lang="zh-CN" altLang="en-US" dirty="0"/>
              <a:t>），大量小肿瘤和少数极大肿瘤。</a:t>
            </a:r>
          </a:p>
          <a:p>
            <a:r>
              <a:rPr lang="zh-CN" altLang="en-US" dirty="0"/>
              <a:t>为满足线性模型的正态性假设，我们对比了两种变换：</a:t>
            </a:r>
          </a:p>
          <a:p>
            <a:r>
              <a:rPr lang="en-US" altLang="zh-CN" dirty="0"/>
              <a:t>Box-Cox </a:t>
            </a:r>
            <a:r>
              <a:rPr lang="zh-CN" altLang="en-US" dirty="0"/>
              <a:t>变换（</a:t>
            </a:r>
            <a:r>
              <a:rPr lang="en-US" altLang="zh-CN" dirty="0"/>
              <a:t>λ=0.20</a:t>
            </a:r>
            <a:r>
              <a:rPr lang="zh-CN" altLang="en-US" dirty="0"/>
              <a:t>）：统计最优，但</a:t>
            </a:r>
            <a:r>
              <a:rPr lang="en-US" altLang="zh-CN" dirty="0"/>
              <a:t> λ </a:t>
            </a:r>
            <a:r>
              <a:rPr lang="zh-CN" altLang="en-US" dirty="0"/>
              <a:t>无直观解释；</a:t>
            </a:r>
          </a:p>
          <a:p>
            <a:r>
              <a:rPr lang="zh-CN" altLang="en-US" dirty="0"/>
              <a:t>对数变换（</a:t>
            </a:r>
            <a:r>
              <a:rPr lang="en-US" altLang="zh-CN" dirty="0"/>
              <a:t>log(tumor_size + 1)</a:t>
            </a:r>
            <a:r>
              <a:rPr lang="zh-CN" altLang="en-US" dirty="0"/>
              <a:t>）：虽非最优（</a:t>
            </a:r>
            <a:r>
              <a:rPr lang="en-US" altLang="zh-CN" dirty="0"/>
              <a:t>λ≈0</a:t>
            </a:r>
            <a:r>
              <a:rPr lang="zh-CN" altLang="en-US" dirty="0"/>
              <a:t>），但临床可解释性强</a:t>
            </a:r>
            <a:r>
              <a:rPr lang="en-US" altLang="zh-CN" dirty="0"/>
              <a:t>——</a:t>
            </a:r>
            <a:r>
              <a:rPr lang="zh-CN" altLang="en-US" dirty="0"/>
              <a:t>系数可解读为</a:t>
            </a:r>
            <a:r>
              <a:rPr lang="en-US" altLang="zh-CN" dirty="0"/>
              <a:t>‘</a:t>
            </a:r>
            <a:r>
              <a:rPr lang="zh-CN" altLang="en-US" dirty="0"/>
              <a:t>肿瘤大小的相对变化</a:t>
            </a:r>
            <a:r>
              <a:rPr lang="en-US" altLang="zh-CN" dirty="0"/>
              <a:t>’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因此，我们最终选择对数变换，在模型性能和可解释性之间取得平衡。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我们纳入了</a:t>
            </a:r>
            <a:r>
              <a:rPr lang="en-US" altLang="zh-CN" dirty="0"/>
              <a:t>9</a:t>
            </a:r>
            <a:r>
              <a:rPr lang="zh-CN" altLang="en-US" dirty="0"/>
              <a:t>个关键临床变量，涵盖人口学、病理、分子分型和治疗背景。</a:t>
            </a:r>
          </a:p>
          <a:p>
            <a:r>
              <a:rPr lang="zh-CN" altLang="en-US" dirty="0"/>
              <a:t>数据完整性很高</a:t>
            </a:r>
            <a:r>
              <a:rPr lang="en-US" altLang="zh-CN" dirty="0"/>
              <a:t>——9</a:t>
            </a:r>
            <a:r>
              <a:rPr lang="zh-CN" altLang="en-US" dirty="0"/>
              <a:t>个变量中，仅组织学分级（</a:t>
            </a:r>
            <a:r>
              <a:rPr lang="en-US" altLang="zh-CN" dirty="0"/>
              <a:t>grade</a:t>
            </a:r>
            <a:r>
              <a:rPr lang="zh-CN" altLang="en-US" dirty="0"/>
              <a:t>）和样本细胞密度（</a:t>
            </a:r>
            <a:r>
              <a:rPr lang="en-US" altLang="zh-CN" dirty="0"/>
              <a:t>cellularity</a:t>
            </a:r>
            <a:r>
              <a:rPr lang="zh-CN" altLang="en-US" dirty="0"/>
              <a:t>）存在少量缺失（</a:t>
            </a:r>
            <a:r>
              <a:rPr lang="en-US" altLang="zh-CN" dirty="0"/>
              <a:t>&lt;4%</a:t>
            </a:r>
            <a:r>
              <a:rPr lang="zh-CN" altLang="en-US" dirty="0"/>
              <a:t>）。</a:t>
            </a:r>
          </a:p>
          <a:p>
            <a:r>
              <a:rPr lang="zh-CN" altLang="en-US" dirty="0"/>
              <a:t>通过缺失模式热图可见，缺失呈随机分布（无成块缺失或与特定样本相关），符合随机缺失（</a:t>
            </a:r>
            <a:r>
              <a:rPr lang="en-US" altLang="zh-CN" dirty="0"/>
              <a:t>MAR</a:t>
            </a:r>
            <a:r>
              <a:rPr lang="zh-CN" altLang="en-US" dirty="0"/>
              <a:t>）假设，适合进行填补。</a:t>
            </a:r>
          </a:p>
          <a:p>
            <a:r>
              <a:rPr lang="zh-CN" altLang="en-US" dirty="0"/>
              <a:t>我们根据变量类型采用差异化策略：</a:t>
            </a:r>
          </a:p>
          <a:p>
            <a:r>
              <a:rPr lang="en-US" altLang="zh-CN" b="1" dirty="0">
                <a:effectLst/>
              </a:rPr>
              <a:t>cellularity</a:t>
            </a:r>
            <a:r>
              <a:rPr lang="zh-CN" altLang="en-US" dirty="0">
                <a:effectLst/>
              </a:rPr>
              <a:t>（样本细胞密度）</a:t>
            </a:r>
          </a:p>
          <a:p>
            <a:r>
              <a:rPr lang="zh-CN" altLang="en-US" b="1" dirty="0">
                <a:effectLst/>
              </a:rPr>
              <a:t>技术性缺失</a:t>
            </a:r>
            <a:r>
              <a:rPr lang="zh-CN" altLang="en-US" dirty="0">
                <a:effectLst/>
              </a:rPr>
              <a:t>（如病理切片质量差导致无法评估）</a:t>
            </a:r>
          </a:p>
          <a:p>
            <a:r>
              <a:rPr lang="zh-CN" altLang="en-US" b="1" dirty="0">
                <a:effectLst/>
              </a:rPr>
              <a:t>众数填充</a:t>
            </a:r>
            <a:r>
              <a:rPr lang="zh-CN" altLang="en-US" dirty="0">
                <a:effectLst/>
              </a:rPr>
              <a:t>（</a:t>
            </a:r>
            <a:r>
              <a:rPr lang="en-US" altLang="zh-CN" dirty="0">
                <a:effectLst/>
              </a:rPr>
              <a:t>"High"</a:t>
            </a:r>
            <a:r>
              <a:rPr lang="zh-CN" altLang="en-US" dirty="0">
                <a:effectLst/>
              </a:rPr>
              <a:t>）</a:t>
            </a:r>
          </a:p>
          <a:p>
            <a:r>
              <a:rPr lang="zh-CN" altLang="en-US" dirty="0">
                <a:effectLst/>
              </a:rPr>
              <a:t>缺失是随机的，且 </a:t>
            </a:r>
            <a:r>
              <a:rPr lang="en-US" altLang="zh-CN" dirty="0">
                <a:effectLst/>
              </a:rPr>
              <a:t>"High" </a:t>
            </a:r>
            <a:r>
              <a:rPr lang="zh-CN" altLang="en-US" dirty="0">
                <a:effectLst/>
              </a:rPr>
              <a:t>是最常见类别，填充后对分布影响最小</a:t>
            </a:r>
          </a:p>
          <a:p>
            <a:r>
              <a:rPr lang="en-US" altLang="zh-CN" b="1" dirty="0" err="1">
                <a:effectLst/>
              </a:rPr>
              <a:t>neoplasm_histologic_grade</a:t>
            </a:r>
            <a:r>
              <a:rPr lang="zh-CN" altLang="en-US" dirty="0">
                <a:effectLst/>
              </a:rPr>
              <a:t>（组织学分级）</a:t>
            </a:r>
          </a:p>
          <a:p>
            <a:r>
              <a:rPr lang="zh-CN" altLang="en-US" b="1" dirty="0">
                <a:effectLst/>
              </a:rPr>
              <a:t>临床性缺失</a:t>
            </a:r>
            <a:r>
              <a:rPr lang="zh-CN" altLang="en-US" dirty="0">
                <a:effectLst/>
              </a:rPr>
              <a:t>（可能因肿瘤太小、未做详细病理）</a:t>
            </a:r>
          </a:p>
          <a:p>
            <a:r>
              <a:rPr lang="zh-CN" altLang="en-US" b="1" dirty="0">
                <a:effectLst/>
              </a:rPr>
              <a:t>创建 </a:t>
            </a:r>
            <a:r>
              <a:rPr lang="en-US" altLang="zh-CN" b="1" dirty="0">
                <a:effectLst/>
              </a:rPr>
              <a:t>"Missing" </a:t>
            </a:r>
            <a:r>
              <a:rPr lang="zh-CN" altLang="en-US" b="1" dirty="0">
                <a:effectLst/>
              </a:rPr>
              <a:t>类别 </a:t>
            </a:r>
            <a:r>
              <a:rPr lang="en-US" altLang="zh-CN" b="1" dirty="0">
                <a:effectLst/>
              </a:rPr>
              <a:t>+ </a:t>
            </a:r>
            <a:r>
              <a:rPr lang="zh-CN" altLang="en-US" b="1" dirty="0">
                <a:effectLst/>
              </a:rPr>
              <a:t>指示变量</a:t>
            </a:r>
            <a:endParaRPr lang="zh-CN" altLang="en-US" dirty="0">
              <a:effectLst/>
            </a:endParaRPr>
          </a:p>
          <a:p>
            <a:r>
              <a:rPr lang="zh-CN" altLang="en-US" dirty="0">
                <a:effectLst/>
              </a:rPr>
              <a:t>缺失本身可能是一个有意义的临床状态（如“未评估分级”），应保留为独立类别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我们对全部</a:t>
            </a:r>
            <a:r>
              <a:rPr lang="en-US" altLang="zh-CN" dirty="0"/>
              <a:t> 9 </a:t>
            </a:r>
            <a:r>
              <a:rPr lang="zh-CN" altLang="en-US" dirty="0"/>
              <a:t>个临床变量进行了精细化编码，分为三类处理：</a:t>
            </a:r>
          </a:p>
          <a:p>
            <a:r>
              <a:rPr lang="zh-CN" altLang="en-US" dirty="0"/>
              <a:t>第一类：</a:t>
            </a:r>
            <a:r>
              <a:rPr lang="en-US" altLang="zh-CN" dirty="0"/>
              <a:t>3 </a:t>
            </a:r>
            <a:r>
              <a:rPr lang="zh-CN" altLang="en-US" dirty="0"/>
              <a:t>个二分类变量</a:t>
            </a:r>
          </a:p>
          <a:p>
            <a:r>
              <a:rPr lang="zh-CN" altLang="en-US" dirty="0"/>
              <a:t>包括</a:t>
            </a:r>
            <a:r>
              <a:rPr lang="en-US" altLang="zh-CN" dirty="0"/>
              <a:t> ER </a:t>
            </a:r>
            <a:r>
              <a:rPr lang="zh-CN" altLang="en-US" dirty="0"/>
              <a:t>状态、</a:t>
            </a:r>
            <a:r>
              <a:rPr lang="en-US" altLang="zh-CN" dirty="0"/>
              <a:t>HER2 </a:t>
            </a:r>
            <a:r>
              <a:rPr lang="zh-CN" altLang="en-US" dirty="0"/>
              <a:t>状态和绝经状态，全部转为</a:t>
            </a:r>
            <a:r>
              <a:rPr lang="en-US" altLang="zh-CN" dirty="0"/>
              <a:t> 0/1 </a:t>
            </a:r>
            <a:r>
              <a:rPr lang="zh-CN" altLang="en-US" dirty="0"/>
              <a:t>编码</a:t>
            </a:r>
            <a:r>
              <a:rPr lang="en-US" altLang="zh-CN" dirty="0"/>
              <a:t>——</a:t>
            </a:r>
            <a:r>
              <a:rPr lang="zh-CN" altLang="en-US" dirty="0"/>
              <a:t>这是最直接且无信息损失的方式。</a:t>
            </a:r>
          </a:p>
          <a:p>
            <a:r>
              <a:rPr lang="zh-CN" altLang="en-US" dirty="0"/>
              <a:t>第二类：</a:t>
            </a:r>
            <a:r>
              <a:rPr lang="en-US" altLang="zh-CN" dirty="0"/>
              <a:t>2 </a:t>
            </a:r>
            <a:r>
              <a:rPr lang="zh-CN" altLang="en-US" dirty="0"/>
              <a:t>个连续变量</a:t>
            </a:r>
          </a:p>
          <a:p>
            <a:r>
              <a:rPr lang="zh-CN" altLang="en-US" dirty="0"/>
              <a:t>年龄：直接做</a:t>
            </a:r>
            <a:r>
              <a:rPr lang="en-US" altLang="zh-CN" dirty="0"/>
              <a:t> Z-score </a:t>
            </a:r>
            <a:r>
              <a:rPr lang="zh-CN" altLang="en-US" dirty="0"/>
              <a:t>标准化，使其均值为</a:t>
            </a:r>
            <a:r>
              <a:rPr lang="en-US" altLang="zh-CN" dirty="0"/>
              <a:t> 0</a:t>
            </a:r>
            <a:r>
              <a:rPr lang="zh-CN" altLang="en-US" dirty="0"/>
              <a:t>、标准差为</a:t>
            </a:r>
            <a:r>
              <a:rPr lang="en-US" altLang="zh-CN" dirty="0"/>
              <a:t> 1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阳性淋巴结数：因其高度右偏，我们先进行</a:t>
            </a:r>
            <a:r>
              <a:rPr lang="en-US" altLang="zh-CN" dirty="0"/>
              <a:t> log(lymph_nodes + 1) </a:t>
            </a:r>
            <a:r>
              <a:rPr lang="zh-CN" altLang="en-US" dirty="0"/>
              <a:t>变换，再标准化，以稳定方差。</a:t>
            </a:r>
          </a:p>
          <a:p>
            <a:r>
              <a:rPr lang="zh-CN" altLang="en-US" dirty="0"/>
              <a:t>第三类：</a:t>
            </a:r>
            <a:r>
              <a:rPr lang="en-US" altLang="zh-CN" dirty="0"/>
              <a:t>4 </a:t>
            </a:r>
            <a:r>
              <a:rPr lang="zh-CN" altLang="en-US" dirty="0"/>
              <a:t>个多分类变量</a:t>
            </a:r>
          </a:p>
          <a:p>
            <a:r>
              <a:rPr lang="zh-CN" altLang="en-US" dirty="0"/>
              <a:t>这是最复杂的部分，我们为每个变量指定临床合理的参考类别：</a:t>
            </a:r>
          </a:p>
          <a:p>
            <a:r>
              <a:rPr lang="zh-CN" altLang="en-US" dirty="0"/>
              <a:t>组织学分级：以</a:t>
            </a:r>
            <a:r>
              <a:rPr lang="en-US" altLang="zh-CN" dirty="0"/>
              <a:t> Grade 1</a:t>
            </a:r>
            <a:r>
              <a:rPr lang="zh-CN" altLang="en-US" dirty="0"/>
              <a:t>（高分化）为基准，并将原始缺失值保留为独立类别</a:t>
            </a:r>
            <a:r>
              <a:rPr lang="en-US" altLang="zh-CN" dirty="0"/>
              <a:t> grade_Missing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样本细胞密度（</a:t>
            </a:r>
            <a:r>
              <a:rPr lang="en-US" altLang="zh-CN" dirty="0"/>
              <a:t>cellularity</a:t>
            </a:r>
            <a:r>
              <a:rPr lang="zh-CN" altLang="en-US" dirty="0"/>
              <a:t>）：以</a:t>
            </a:r>
            <a:r>
              <a:rPr lang="en-US" altLang="zh-CN" dirty="0"/>
              <a:t> High</a:t>
            </a:r>
            <a:r>
              <a:rPr lang="zh-CN" altLang="en-US" dirty="0"/>
              <a:t>（高纯度）为基准；</a:t>
            </a:r>
          </a:p>
          <a:p>
            <a:r>
              <a:rPr lang="en-US" altLang="zh-CN" dirty="0"/>
              <a:t>PAM50 </a:t>
            </a:r>
            <a:r>
              <a:rPr lang="zh-CN" altLang="en-US" dirty="0"/>
              <a:t>分子分型：以最常见的</a:t>
            </a:r>
            <a:r>
              <a:rPr lang="en-US" altLang="zh-CN" dirty="0"/>
              <a:t> Luminal A </a:t>
            </a:r>
            <a:r>
              <a:rPr lang="zh-CN" altLang="en-US" dirty="0"/>
              <a:t>为基准；</a:t>
            </a:r>
          </a:p>
          <a:p>
            <a:r>
              <a:rPr lang="zh-CN" altLang="en-US" dirty="0"/>
              <a:t>队列（</a:t>
            </a:r>
            <a:r>
              <a:rPr lang="en-US" altLang="zh-CN" dirty="0"/>
              <a:t>cohort</a:t>
            </a:r>
            <a:r>
              <a:rPr lang="zh-CN" altLang="en-US" dirty="0"/>
              <a:t>）：以</a:t>
            </a:r>
            <a:r>
              <a:rPr lang="en-US" altLang="zh-CN" dirty="0"/>
              <a:t> Cohort 1 </a:t>
            </a:r>
            <a:r>
              <a:rPr lang="zh-CN" altLang="en-US" dirty="0"/>
              <a:t>为基准，用于控制不同数据来源的技术偏差。</a:t>
            </a:r>
          </a:p>
          <a:p>
            <a:r>
              <a:rPr lang="zh-CN" altLang="en-US" dirty="0"/>
              <a:t>最终，</a:t>
            </a:r>
            <a:r>
              <a:rPr lang="en-US" altLang="zh-CN" dirty="0"/>
              <a:t>9 </a:t>
            </a:r>
            <a:r>
              <a:rPr lang="zh-CN" altLang="en-US" dirty="0"/>
              <a:t>个变量被转化为</a:t>
            </a:r>
            <a:r>
              <a:rPr lang="en-US" altLang="zh-CN" dirty="0"/>
              <a:t> 20 </a:t>
            </a:r>
            <a:r>
              <a:rPr lang="zh-CN" altLang="en-US" dirty="0"/>
              <a:t>个模型特征，既保留了全部信息，又满足了线性模型的输入要求。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D1D1F"/>
                </a:solidFill>
                <a:effectLst/>
                <a:latin typeface="system-ui"/>
              </a:rPr>
              <a:t>生物学合理性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Brown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模块基因（如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msh6, </a:t>
            </a:r>
            <a:r>
              <a:rPr lang="en-US" altLang="zh-CN" b="0" i="0" dirty="0" err="1">
                <a:solidFill>
                  <a:srgbClr val="1D1D1F"/>
                </a:solidFill>
                <a:effectLst/>
                <a:latin typeface="system-ui"/>
              </a:rPr>
              <a:t>aurka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）参与细胞周期、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DNA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修复 → 高表达 → 肿瘤增大；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Red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模块基因（如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gata3, mapk3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）参与分化、激素响应 → 高表达 → 肿瘤可能减小（但你的结果部分为正，需进一步解读）。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D1D1F"/>
                </a:solidFill>
                <a:effectLst/>
                <a:latin typeface="system-ui"/>
              </a:rPr>
              <a:t>统计学合理性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Hub Genes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是模块内最稳定的基因，噪声少，适合用于回归；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40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个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Hub Genes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代表了整个网络的主要信号，避免了全基因组分析的多重检验问题。</a:t>
            </a:r>
            <a:endParaRPr lang="en-US" altLang="zh-CN" b="0" i="0" dirty="0">
              <a:solidFill>
                <a:srgbClr val="1D1D1F"/>
              </a:solidFill>
              <a:effectLst/>
              <a:latin typeface="system-ui"/>
            </a:endParaRPr>
          </a:p>
          <a:p>
            <a:pPr marL="457200" lvl="1" indent="0" algn="l">
              <a:buFont typeface="Arial" panose="020B0604020202020204" pitchFamily="34" charset="0"/>
              <a:buNone/>
            </a:pPr>
            <a:endParaRPr lang="en-US" altLang="zh-CN" b="0" i="0" dirty="0">
              <a:solidFill>
                <a:srgbClr val="1D1D1F"/>
              </a:solidFill>
              <a:effectLst/>
              <a:latin typeface="system-ui"/>
            </a:endParaRPr>
          </a:p>
          <a:p>
            <a:pPr marL="457200" lvl="1" indent="0" algn="l">
              <a:buFont typeface="Arial" panose="020B0604020202020204" pitchFamily="34" charset="0"/>
              <a:buNone/>
            </a:pPr>
            <a:r>
              <a:rPr lang="en-US" altLang="zh-CN" dirty="0"/>
              <a:t>Hub Genes </a:t>
            </a:r>
            <a:r>
              <a:rPr lang="zh-CN" altLang="en-US" dirty="0"/>
              <a:t>是模块内与临床表型最相关的基因，放入回归模型可验证其预测价值</a:t>
            </a:r>
          </a:p>
          <a:p>
            <a:pPr marL="457200" lvl="1" indent="0" algn="l">
              <a:buFont typeface="Arial" panose="020B0604020202020204" pitchFamily="34" charset="0"/>
              <a:buNone/>
            </a:pPr>
            <a:endParaRPr lang="en-US" altLang="zh-CN" b="0" i="0" dirty="0">
              <a:solidFill>
                <a:srgbClr val="1D1D1F"/>
              </a:solidFill>
              <a:effectLst/>
              <a:latin typeface="system-u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在划分训练集和测试集时，我们采用了分层抽样（</a:t>
            </a:r>
            <a:r>
              <a:rPr lang="en-US" altLang="zh-CN" dirty="0"/>
              <a:t>Stratified Sampling</a:t>
            </a:r>
            <a:r>
              <a:rPr lang="zh-CN" altLang="en-US" dirty="0"/>
              <a:t>），这是本研究的关键质量控制步骤。</a:t>
            </a:r>
          </a:p>
          <a:p>
            <a:r>
              <a:rPr lang="zh-CN" altLang="en-US" dirty="0"/>
              <a:t>为什么需要分层？</a:t>
            </a:r>
          </a:p>
          <a:p>
            <a:r>
              <a:rPr lang="zh-CN" altLang="en-US" dirty="0"/>
              <a:t>因为</a:t>
            </a:r>
            <a:r>
              <a:rPr lang="en-US" altLang="zh-CN" dirty="0"/>
              <a:t> PAM50 </a:t>
            </a:r>
            <a:r>
              <a:rPr lang="zh-CN" altLang="en-US" dirty="0"/>
              <a:t>分子亚型是乳腺癌的核心分型，不同亚型的肿瘤大小分布显著不同</a:t>
            </a:r>
            <a:r>
              <a:rPr lang="en-US" altLang="zh-CN" dirty="0"/>
              <a:t>——</a:t>
            </a:r>
            <a:r>
              <a:rPr lang="zh-CN" altLang="en-US" dirty="0"/>
              <a:t>例如</a:t>
            </a:r>
            <a:r>
              <a:rPr lang="en-US" altLang="zh-CN" dirty="0"/>
              <a:t> Basal </a:t>
            </a:r>
            <a:r>
              <a:rPr lang="zh-CN" altLang="en-US" dirty="0"/>
              <a:t>型通常比</a:t>
            </a:r>
            <a:r>
              <a:rPr lang="en-US" altLang="zh-CN" dirty="0"/>
              <a:t> Luminal A </a:t>
            </a:r>
            <a:r>
              <a:rPr lang="zh-CN" altLang="en-US" dirty="0"/>
              <a:t>型更大。如果随机划分，可能导致训练集富含</a:t>
            </a:r>
            <a:r>
              <a:rPr lang="en-US" altLang="zh-CN" dirty="0"/>
              <a:t> LumA</a:t>
            </a:r>
            <a:r>
              <a:rPr lang="zh-CN" altLang="en-US" dirty="0"/>
              <a:t>（小肿瘤），而测试集富含</a:t>
            </a:r>
            <a:r>
              <a:rPr lang="en-US" altLang="zh-CN" dirty="0"/>
              <a:t> Basal</a:t>
            </a:r>
            <a:r>
              <a:rPr lang="zh-CN" altLang="en-US" dirty="0"/>
              <a:t>（大肿瘤），人为夸大模型误差。</a:t>
            </a:r>
          </a:p>
          <a:p>
            <a:r>
              <a:rPr lang="zh-CN" altLang="en-US" dirty="0"/>
              <a:t>我们如何分层？</a:t>
            </a:r>
          </a:p>
          <a:p>
            <a:r>
              <a:rPr lang="zh-CN" altLang="en-US" dirty="0"/>
              <a:t>首先，将样本量极少的</a:t>
            </a:r>
            <a:r>
              <a:rPr lang="en-US" altLang="zh-CN" dirty="0"/>
              <a:t> NC</a:t>
            </a:r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例）和</a:t>
            </a:r>
            <a:r>
              <a:rPr lang="en-US" altLang="zh-CN" dirty="0"/>
              <a:t> Normal</a:t>
            </a:r>
            <a:r>
              <a:rPr lang="zh-CN" altLang="en-US" dirty="0"/>
              <a:t>（</a:t>
            </a:r>
            <a:r>
              <a:rPr lang="en-US" altLang="zh-CN" dirty="0"/>
              <a:t>140</a:t>
            </a:r>
            <a:r>
              <a:rPr lang="zh-CN" altLang="en-US" dirty="0"/>
              <a:t>例）合并为</a:t>
            </a:r>
            <a:r>
              <a:rPr lang="en-US" altLang="zh-CN" dirty="0"/>
              <a:t> "Other"</a:t>
            </a:r>
            <a:r>
              <a:rPr lang="zh-CN" altLang="en-US" dirty="0"/>
              <a:t>，确保每类有足够样本；</a:t>
            </a:r>
          </a:p>
          <a:p>
            <a:r>
              <a:rPr lang="zh-CN" altLang="en-US" dirty="0"/>
              <a:t>然后，按</a:t>
            </a:r>
            <a:r>
              <a:rPr lang="en-US" altLang="zh-CN" dirty="0"/>
              <a:t> 5 </a:t>
            </a:r>
            <a:r>
              <a:rPr lang="zh-CN" altLang="en-US" dirty="0"/>
              <a:t>个最终亚型（</a:t>
            </a:r>
            <a:r>
              <a:rPr lang="en-US" altLang="zh-CN" dirty="0"/>
              <a:t>LumA, LumB, Her2, Basal, Other</a:t>
            </a:r>
            <a:r>
              <a:rPr lang="zh-CN" altLang="en-US" dirty="0"/>
              <a:t>）进行分层抽样。</a:t>
            </a:r>
          </a:p>
          <a:p>
            <a:r>
              <a:rPr lang="zh-CN" altLang="en-US" dirty="0"/>
              <a:t>结果非常理想：</a:t>
            </a:r>
          </a:p>
          <a:p>
            <a:r>
              <a:rPr lang="zh-CN" altLang="en-US" dirty="0"/>
              <a:t>训练集和测试集中，各亚型比例差异均小于</a:t>
            </a:r>
            <a:r>
              <a:rPr lang="en-US" altLang="zh-CN" dirty="0"/>
              <a:t> 0.2%</a:t>
            </a:r>
            <a:r>
              <a:rPr lang="zh-CN" altLang="en-US" dirty="0"/>
              <a:t>（如</a:t>
            </a:r>
            <a:r>
              <a:rPr lang="en-US" altLang="zh-CN" dirty="0"/>
              <a:t> LumA: 35.97% vs 36.07%</a:t>
            </a:r>
            <a:r>
              <a:rPr lang="zh-CN" altLang="en-US" dirty="0"/>
              <a:t>）。</a:t>
            </a:r>
          </a:p>
          <a:p>
            <a:r>
              <a:rPr lang="zh-CN" altLang="en-US" dirty="0"/>
              <a:t>这保证了我们的模型评估真实反映泛化能力，而非数据划分偏差。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LASSO </a:t>
            </a:r>
            <a:r>
              <a:rPr lang="zh-CN" altLang="en-US" dirty="0"/>
              <a:t>从</a:t>
            </a:r>
            <a:r>
              <a:rPr lang="en-US" altLang="zh-CN" dirty="0"/>
              <a:t> 60 </a:t>
            </a:r>
            <a:r>
              <a:rPr lang="zh-CN" altLang="en-US" dirty="0"/>
              <a:t>个候选变量中自动筛选出</a:t>
            </a:r>
            <a:r>
              <a:rPr lang="en-US" altLang="zh-CN" dirty="0"/>
              <a:t> 23 </a:t>
            </a:r>
            <a:r>
              <a:rPr lang="zh-CN" altLang="en-US" dirty="0"/>
              <a:t>个关键预测因子。</a:t>
            </a:r>
          </a:p>
          <a:p>
            <a:r>
              <a:rPr lang="zh-CN" altLang="en-US" dirty="0"/>
              <a:t>最强预测因子是临床变量：</a:t>
            </a:r>
            <a:r>
              <a:rPr lang="en-US" altLang="zh-CN" dirty="0"/>
              <a:t>lymph_log_scaled</a:t>
            </a:r>
            <a:r>
              <a:rPr lang="zh-CN" altLang="en-US" dirty="0"/>
              <a:t>（系数</a:t>
            </a:r>
            <a:r>
              <a:rPr lang="en-US" altLang="zh-CN" dirty="0"/>
              <a:t> +0.128</a:t>
            </a:r>
            <a:r>
              <a:rPr lang="zh-CN" altLang="en-US" dirty="0"/>
              <a:t>）和</a:t>
            </a:r>
            <a:r>
              <a:rPr lang="en-US" altLang="zh-CN" dirty="0"/>
              <a:t> age_scaled</a:t>
            </a:r>
            <a:r>
              <a:rPr lang="zh-CN" altLang="en-US" dirty="0"/>
              <a:t>（</a:t>
            </a:r>
            <a:r>
              <a:rPr lang="en-US" altLang="zh-CN" dirty="0"/>
              <a:t>+0.048</a:t>
            </a:r>
            <a:r>
              <a:rPr lang="zh-CN" altLang="en-US" dirty="0"/>
              <a:t>），符合临床直觉。</a:t>
            </a:r>
          </a:p>
          <a:p>
            <a:r>
              <a:rPr lang="zh-CN" altLang="en-US" dirty="0"/>
              <a:t>基因层面，</a:t>
            </a:r>
            <a:r>
              <a:rPr lang="en-US" altLang="zh-CN" dirty="0"/>
              <a:t>Brown </a:t>
            </a:r>
            <a:r>
              <a:rPr lang="zh-CN" altLang="en-US" dirty="0"/>
              <a:t>模块的</a:t>
            </a:r>
            <a:r>
              <a:rPr lang="en-US" altLang="zh-CN" dirty="0"/>
              <a:t> msh6 </a:t>
            </a:r>
            <a:r>
              <a:rPr lang="zh-CN" altLang="en-US" dirty="0"/>
              <a:t>和</a:t>
            </a:r>
            <a:r>
              <a:rPr lang="en-US" altLang="zh-CN" dirty="0"/>
              <a:t> Red </a:t>
            </a:r>
            <a:r>
              <a:rPr lang="zh-CN" altLang="en-US" dirty="0"/>
              <a:t>模块的</a:t>
            </a:r>
            <a:r>
              <a:rPr lang="en-US" altLang="zh-CN" dirty="0"/>
              <a:t> acvr1b </a:t>
            </a:r>
            <a:r>
              <a:rPr lang="zh-CN" altLang="en-US" dirty="0"/>
              <a:t>等</a:t>
            </a:r>
            <a:r>
              <a:rPr lang="en-US" altLang="zh-CN" dirty="0"/>
              <a:t> 14 </a:t>
            </a:r>
            <a:r>
              <a:rPr lang="zh-CN" altLang="en-US" dirty="0"/>
              <a:t>个</a:t>
            </a:r>
            <a:r>
              <a:rPr lang="en-US" altLang="zh-CN" dirty="0"/>
              <a:t> hub </a:t>
            </a:r>
            <a:r>
              <a:rPr lang="zh-CN" altLang="en-US" dirty="0"/>
              <a:t>基因被选中，验证了</a:t>
            </a:r>
            <a:r>
              <a:rPr lang="en-US" altLang="zh-CN" dirty="0"/>
              <a:t> WGCNA </a:t>
            </a:r>
            <a:r>
              <a:rPr lang="zh-CN" altLang="en-US" dirty="0"/>
              <a:t>筛选的生物学价值。</a:t>
            </a:r>
          </a:p>
          <a:p>
            <a:r>
              <a:rPr lang="zh-CN" altLang="en-US" dirty="0"/>
              <a:t>值得注意的是，组织学分级（</a:t>
            </a:r>
            <a:r>
              <a:rPr lang="en-US" altLang="zh-CN" dirty="0"/>
              <a:t>grade_3.0</a:t>
            </a:r>
            <a:r>
              <a:rPr lang="zh-CN" altLang="en-US" dirty="0"/>
              <a:t>），说明高级别肿瘤确实更大。</a:t>
            </a:r>
            <a:endParaRPr lang="en-US" altLang="zh-CN" dirty="0"/>
          </a:p>
          <a:p>
            <a:endParaRPr lang="en-US" altLang="zh-CN" dirty="0"/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1D1D1F"/>
                </a:solidFill>
                <a:effectLst/>
                <a:latin typeface="system-ui"/>
              </a:rPr>
              <a:t>数据划分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：将训练集 </a:t>
            </a:r>
            <a:r>
              <a:rPr lang="en-US" altLang="zh-CN" b="0" i="0" dirty="0" err="1">
                <a:solidFill>
                  <a:srgbClr val="1D1D1F"/>
                </a:solidFill>
                <a:effectLst/>
                <a:latin typeface="system-ui"/>
              </a:rPr>
              <a:t>X_train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划分为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10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份（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10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折）。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1D1D1F"/>
                </a:solidFill>
                <a:effectLst/>
                <a:latin typeface="system-ui"/>
              </a:rPr>
              <a:t>循环训练与验证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对每一份（作为验证集），用其余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9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份训练模型；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计算该折上的预测误差（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MSE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）；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重复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10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次，得到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10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个误差值。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1D1D1F"/>
                </a:solidFill>
                <a:effectLst/>
                <a:latin typeface="system-ui"/>
              </a:rPr>
              <a:t>选择最优 </a:t>
            </a:r>
            <a:r>
              <a:rPr lang="en-US" altLang="zh-CN" b="1" i="0" dirty="0">
                <a:solidFill>
                  <a:srgbClr val="1D1D1F"/>
                </a:solidFill>
                <a:effectLst/>
                <a:latin typeface="system-ui"/>
              </a:rPr>
              <a:t>λ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对每个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α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（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λ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），计算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10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折的平均误差；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选择平均误差最小的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α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作为最优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λ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。</a:t>
            </a:r>
            <a:endParaRPr lang="en-US" altLang="zh-CN" b="0" i="0" dirty="0">
              <a:solidFill>
                <a:srgbClr val="1D1D1F"/>
              </a:solidFill>
              <a:effectLst/>
              <a:latin typeface="system-ui"/>
            </a:endParaRPr>
          </a:p>
          <a:p>
            <a:pPr marL="457200" lvl="1" indent="0" algn="l">
              <a:buFont typeface="+mj-lt"/>
              <a:buNone/>
            </a:pPr>
            <a:endParaRPr lang="zh-CN" altLang="en-US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λ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的影响是</a:t>
            </a:r>
            <a:r>
              <a:rPr lang="zh-CN" altLang="en-US" b="1" i="0" dirty="0">
                <a:solidFill>
                  <a:srgbClr val="1D1D1F"/>
                </a:solidFill>
                <a:effectLst/>
                <a:latin typeface="system-ui"/>
              </a:rPr>
              <a:t>指数级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的：小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λ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几乎无惩罚，大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λ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几乎所有系数为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0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用对数均匀分布可以</a:t>
            </a:r>
            <a:r>
              <a:rPr lang="zh-CN" altLang="en-US" b="1" i="0" dirty="0">
                <a:solidFill>
                  <a:srgbClr val="1D1D1F"/>
                </a:solidFill>
                <a:effectLst/>
                <a:latin typeface="system-ui"/>
              </a:rPr>
              <a:t>在小 </a:t>
            </a:r>
            <a:r>
              <a:rPr lang="en-US" altLang="zh-CN" b="1" i="0" dirty="0">
                <a:solidFill>
                  <a:srgbClr val="1D1D1F"/>
                </a:solidFill>
                <a:effectLst/>
                <a:latin typeface="system-ui"/>
              </a:rPr>
              <a:t>λ </a:t>
            </a:r>
            <a:r>
              <a:rPr lang="zh-CN" altLang="en-US" b="1" i="0" dirty="0">
                <a:solidFill>
                  <a:srgbClr val="1D1D1F"/>
                </a:solidFill>
                <a:effectLst/>
                <a:latin typeface="system-ui"/>
              </a:rPr>
              <a:t>区域更密集采样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（因为小 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system-ui"/>
              </a:rPr>
              <a:t>λ 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system-ui"/>
              </a:rPr>
              <a:t>对模型影响更大）。</a:t>
            </a:r>
            <a:endParaRPr lang="en-US" altLang="zh-CN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8C8D9B"/>
                </a:solidFill>
                <a:effectLst/>
                <a:latin typeface="system-ui"/>
              </a:rPr>
              <a:t>这种搜索方式是科学且高效的，确保在关键区域（小 </a:t>
            </a:r>
            <a:r>
              <a:rPr lang="en-US" altLang="zh-CN" b="0" i="0" dirty="0">
                <a:solidFill>
                  <a:srgbClr val="8C8D9B"/>
                </a:solidFill>
                <a:effectLst/>
                <a:latin typeface="system-ui"/>
              </a:rPr>
              <a:t>λ</a:t>
            </a:r>
            <a:r>
              <a:rPr lang="zh-CN" altLang="en-US" b="0" i="0" dirty="0">
                <a:solidFill>
                  <a:srgbClr val="8C8D9B"/>
                </a:solidFill>
                <a:effectLst/>
                <a:latin typeface="system-ui"/>
              </a:rPr>
              <a:t>）有足够分辨率。</a:t>
            </a:r>
            <a:endParaRPr lang="zh-CN" altLang="en-US" b="0" i="0" dirty="0">
              <a:solidFill>
                <a:srgbClr val="1D1D1F"/>
              </a:solidFill>
              <a:effectLst/>
              <a:latin typeface="system-ui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这张</a:t>
            </a:r>
            <a:r>
              <a:rPr lang="en-US" altLang="zh-CN" dirty="0"/>
              <a:t> LASSO </a:t>
            </a:r>
            <a:r>
              <a:rPr lang="zh-CN" altLang="en-US" dirty="0"/>
              <a:t>路径图展示了所有变量的系数如何随正则化强度</a:t>
            </a:r>
            <a:r>
              <a:rPr lang="en-US" altLang="zh-CN" dirty="0"/>
              <a:t> λ </a:t>
            </a:r>
            <a:r>
              <a:rPr lang="zh-CN" altLang="en-US" dirty="0"/>
              <a:t>变化。</a:t>
            </a:r>
          </a:p>
          <a:p>
            <a:r>
              <a:rPr lang="zh-CN" altLang="en-US" dirty="0"/>
              <a:t>左侧（</a:t>
            </a:r>
            <a:r>
              <a:rPr lang="en-US" altLang="zh-CN" dirty="0"/>
              <a:t>λ </a:t>
            </a:r>
            <a:r>
              <a:rPr lang="zh-CN" altLang="en-US" dirty="0"/>
              <a:t>小）：模型复杂，所有变量有非零系数；</a:t>
            </a:r>
          </a:p>
          <a:p>
            <a:r>
              <a:rPr lang="zh-CN" altLang="en-US" dirty="0"/>
              <a:t>右侧（</a:t>
            </a:r>
            <a:r>
              <a:rPr lang="en-US" altLang="zh-CN" dirty="0"/>
              <a:t>λ </a:t>
            </a:r>
            <a:r>
              <a:rPr lang="zh-CN" altLang="en-US" dirty="0"/>
              <a:t>大）：模型稀疏，几乎所有系数被压缩至</a:t>
            </a:r>
            <a:r>
              <a:rPr lang="en-US" altLang="zh-CN" dirty="0"/>
              <a:t> 0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红线处（</a:t>
            </a:r>
            <a:r>
              <a:rPr lang="en-US" altLang="zh-CN" dirty="0"/>
              <a:t>λ=0.0083</a:t>
            </a:r>
            <a:r>
              <a:rPr lang="zh-CN" altLang="en-US" dirty="0"/>
              <a:t>）：由</a:t>
            </a:r>
            <a:r>
              <a:rPr lang="en-US" altLang="zh-CN" dirty="0"/>
              <a:t> 10 </a:t>
            </a:r>
            <a:r>
              <a:rPr lang="zh-CN" altLang="en-US" dirty="0"/>
              <a:t>折交叉验证选出的最优平衡点，此时保留</a:t>
            </a:r>
            <a:r>
              <a:rPr lang="en-US" altLang="zh-CN" dirty="0"/>
              <a:t> 23 </a:t>
            </a:r>
            <a:r>
              <a:rPr lang="zh-CN" altLang="en-US" dirty="0"/>
              <a:t>个信号最强的变量。</a:t>
            </a:r>
          </a:p>
          <a:p>
            <a:r>
              <a:rPr lang="zh-CN" altLang="en-US" dirty="0"/>
              <a:t>这种自动化的变量选择，避免了人工筛选的主观性，同时保证了模型的可解释性。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在初步拟合</a:t>
            </a:r>
            <a:r>
              <a:rPr lang="en-US" altLang="zh-CN" dirty="0"/>
              <a:t> OLS </a:t>
            </a:r>
            <a:r>
              <a:rPr lang="zh-CN" altLang="en-US" dirty="0"/>
              <a:t>后，我们进行了第一项诊断</a:t>
            </a:r>
            <a:r>
              <a:rPr lang="en-US" altLang="zh-CN" dirty="0"/>
              <a:t>——</a:t>
            </a:r>
            <a:r>
              <a:rPr lang="zh-CN" altLang="en-US" dirty="0"/>
              <a:t>强影响点检测。</a:t>
            </a:r>
          </a:p>
          <a:p>
            <a:r>
              <a:rPr lang="zh-CN" altLang="en-US" dirty="0"/>
              <a:t>为什么重要？因为一个强影响点可能像</a:t>
            </a:r>
            <a:r>
              <a:rPr lang="en-US" altLang="zh-CN" dirty="0"/>
              <a:t>‘</a:t>
            </a:r>
            <a:r>
              <a:rPr lang="zh-CN" altLang="en-US" dirty="0"/>
              <a:t>异常值</a:t>
            </a:r>
            <a:r>
              <a:rPr lang="en-US" altLang="zh-CN" dirty="0"/>
              <a:t>’</a:t>
            </a:r>
            <a:r>
              <a:rPr lang="zh-CN" altLang="en-US" dirty="0"/>
              <a:t>一样，显著扭曲整个回归线，导致系数估计偏差。</a:t>
            </a:r>
          </a:p>
          <a:p>
            <a:r>
              <a:rPr lang="zh-CN" altLang="en-US" dirty="0"/>
              <a:t>我们使用</a:t>
            </a:r>
            <a:r>
              <a:rPr lang="en-US" altLang="zh-CN" dirty="0"/>
              <a:t> Cook's Distance</a:t>
            </a:r>
            <a:r>
              <a:rPr lang="zh-CN" altLang="en-US" dirty="0"/>
              <a:t>，它综合了残差和杠杆值，公式为</a:t>
            </a:r>
            <a:r>
              <a:rPr lang="en-US" altLang="zh-CN" dirty="0"/>
              <a:t>：</a:t>
            </a:r>
          </a:p>
          <a:p>
            <a:r>
              <a:rPr lang="zh-CN" altLang="en-US" dirty="0"/>
              <a:t>并采用经验阈值</a:t>
            </a:r>
            <a:r>
              <a:rPr lang="en-US" altLang="zh-CN" dirty="0"/>
              <a:t> </a:t>
            </a:r>
            <a:r>
              <a:rPr lang="zh-CN" altLang="en-US" dirty="0"/>
              <a:t>（这里</a:t>
            </a:r>
            <a:r>
              <a:rPr lang="en-US" altLang="zh-CN" dirty="0"/>
              <a:t> n=1507</a:t>
            </a:r>
            <a:r>
              <a:rPr lang="zh-CN" altLang="en-US" dirty="0"/>
              <a:t>，阈值</a:t>
            </a:r>
            <a:r>
              <a:rPr lang="en-US" altLang="zh-CN" dirty="0"/>
              <a:t>=0.0027</a:t>
            </a:r>
            <a:r>
              <a:rPr lang="zh-CN" altLang="en-US" dirty="0"/>
              <a:t>）。</a:t>
            </a:r>
          </a:p>
          <a:p>
            <a:r>
              <a:rPr lang="zh-CN" altLang="en-US" dirty="0"/>
              <a:t>结果显示：有</a:t>
            </a:r>
            <a:r>
              <a:rPr lang="en-US" altLang="zh-CN" dirty="0"/>
              <a:t> 87 </a:t>
            </a:r>
            <a:r>
              <a:rPr lang="zh-CN" altLang="en-US" dirty="0"/>
              <a:t>个强影响点（占训练集</a:t>
            </a:r>
            <a:r>
              <a:rPr lang="en-US" altLang="zh-CN" dirty="0"/>
              <a:t> 5.8%</a:t>
            </a:r>
            <a:r>
              <a:rPr lang="zh-CN" altLang="en-US" dirty="0"/>
              <a:t>），主要集中在肿瘤大小极大或极小的样本。</a:t>
            </a:r>
          </a:p>
          <a:p>
            <a:r>
              <a:rPr lang="zh-CN" altLang="en-US" dirty="0"/>
              <a:t>为了保证模型稳健性，我们在后续分析中删除了这些点，这使模型</a:t>
            </a:r>
            <a:r>
              <a:rPr lang="en-US" altLang="zh-CN" dirty="0"/>
              <a:t> R</a:t>
            </a:r>
            <a:r>
              <a:rPr lang="en-US" altLang="en-US" dirty="0"/>
              <a:t>²</a:t>
            </a:r>
            <a:r>
              <a:rPr lang="en-US" altLang="zh-CN" dirty="0"/>
              <a:t> </a:t>
            </a:r>
            <a:r>
              <a:rPr lang="zh-CN" altLang="en-US" dirty="0"/>
              <a:t>从</a:t>
            </a:r>
            <a:r>
              <a:rPr lang="en-US" altLang="zh-CN" dirty="0"/>
              <a:t> 0.161 </a:t>
            </a:r>
            <a:r>
              <a:rPr lang="zh-CN" altLang="en-US" dirty="0"/>
              <a:t>提升至</a:t>
            </a:r>
            <a:r>
              <a:rPr lang="en-US" altLang="zh-CN" dirty="0"/>
              <a:t> 0.225</a:t>
            </a:r>
            <a:r>
              <a:rPr lang="zh-CN" altLang="en-US" dirty="0"/>
              <a:t>，证明它们确实对模型有显著干扰。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我们进行了两项关键假设检验：同方差性和共线性。</a:t>
            </a:r>
          </a:p>
          <a:p>
            <a:r>
              <a:rPr lang="zh-CN" altLang="en-US" dirty="0"/>
              <a:t>第一，同方差性：</a:t>
            </a:r>
          </a:p>
          <a:p>
            <a:r>
              <a:rPr lang="zh-CN" altLang="en-US" dirty="0"/>
              <a:t>通过残差</a:t>
            </a:r>
            <a:r>
              <a:rPr lang="en-US" altLang="zh-CN" dirty="0"/>
              <a:t> vs </a:t>
            </a:r>
            <a:r>
              <a:rPr lang="zh-CN" altLang="en-US" dirty="0"/>
              <a:t>拟合值图可见，残差均匀分布在</a:t>
            </a:r>
            <a:r>
              <a:rPr lang="en-US" altLang="zh-CN" dirty="0"/>
              <a:t> 0 </a:t>
            </a:r>
            <a:r>
              <a:rPr lang="zh-CN" altLang="en-US" dirty="0"/>
              <a:t>附近，无漏斗形或曲线模式，说明方差恒定，满足同方差假设。</a:t>
            </a:r>
          </a:p>
          <a:p>
            <a:r>
              <a:rPr lang="zh-CN" altLang="en-US" dirty="0"/>
              <a:t>第二，多重共线性：</a:t>
            </a:r>
          </a:p>
          <a:p>
            <a:r>
              <a:rPr lang="zh-CN" altLang="en-US" dirty="0"/>
              <a:t>我们计算了所有变量的方差膨胀因子（</a:t>
            </a:r>
            <a:r>
              <a:rPr lang="en-US" altLang="zh-CN" dirty="0"/>
              <a:t>VIF</a:t>
            </a:r>
            <a:r>
              <a:rPr lang="zh-CN" altLang="en-US" dirty="0"/>
              <a:t>），结果显示：</a:t>
            </a:r>
          </a:p>
          <a:p>
            <a:r>
              <a:rPr lang="zh-CN" altLang="en-US" dirty="0"/>
              <a:t>最大</a:t>
            </a:r>
            <a:r>
              <a:rPr lang="en-US" altLang="zh-CN" dirty="0"/>
              <a:t> VIF = 4.45</a:t>
            </a:r>
            <a:r>
              <a:rPr lang="zh-CN" altLang="en-US" dirty="0"/>
              <a:t>（</a:t>
            </a:r>
            <a:r>
              <a:rPr lang="en-US" altLang="zh-CN" dirty="0"/>
              <a:t>grade_3.0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所有</a:t>
            </a:r>
            <a:r>
              <a:rPr lang="en-US" altLang="zh-CN" dirty="0"/>
              <a:t> VIF &lt; 5</a:t>
            </a:r>
            <a:r>
              <a:rPr lang="zh-CN" altLang="en-US" dirty="0"/>
              <a:t>（远低于阈值</a:t>
            </a:r>
            <a:r>
              <a:rPr lang="en-US" altLang="zh-CN" dirty="0"/>
              <a:t> 10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这表明变量间无严重共线性，系数估计稳定可靠。</a:t>
            </a:r>
          </a:p>
          <a:p>
            <a:r>
              <a:rPr lang="zh-CN" altLang="en-US" dirty="0"/>
              <a:t>唯一稍高的</a:t>
            </a:r>
            <a:r>
              <a:rPr lang="en-US" altLang="zh-CN" dirty="0"/>
              <a:t> VIF </a:t>
            </a:r>
            <a:r>
              <a:rPr lang="zh-CN" altLang="en-US" dirty="0"/>
              <a:t>出现在</a:t>
            </a:r>
            <a:r>
              <a:rPr lang="en-US" altLang="zh-CN" dirty="0"/>
              <a:t> grade_2.0 </a:t>
            </a:r>
            <a:r>
              <a:rPr lang="zh-CN" altLang="en-US" dirty="0"/>
              <a:t>和</a:t>
            </a:r>
            <a:r>
              <a:rPr lang="en-US" altLang="zh-CN" dirty="0"/>
              <a:t> grade_3.0</a:t>
            </a:r>
            <a:r>
              <a:rPr lang="zh-CN" altLang="en-US" dirty="0"/>
              <a:t>，这是合理的</a:t>
            </a:r>
            <a:r>
              <a:rPr lang="en-US" altLang="zh-CN" dirty="0"/>
              <a:t>——</a:t>
            </a:r>
            <a:r>
              <a:rPr lang="zh-CN" altLang="en-US" dirty="0"/>
              <a:t>因为它们同属组织学分级，存在一定相关性，但仍在安全范围内。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我们通过删除</a:t>
            </a:r>
            <a:r>
              <a:rPr lang="en-US" altLang="zh-CN" dirty="0"/>
              <a:t> 88 </a:t>
            </a:r>
            <a:r>
              <a:rPr lang="zh-CN" altLang="en-US" dirty="0"/>
              <a:t>个强影响点，得到了最终稳健模型。</a:t>
            </a:r>
          </a:p>
          <a:p>
            <a:r>
              <a:rPr lang="zh-CN" altLang="en-US" dirty="0"/>
              <a:t>核心改进有三点：</a:t>
            </a:r>
          </a:p>
          <a:p>
            <a:r>
              <a:rPr lang="zh-CN" altLang="en-US" dirty="0"/>
              <a:t>解释力大幅提升：</a:t>
            </a:r>
            <a:r>
              <a:rPr lang="en-US" altLang="zh-CN" dirty="0"/>
              <a:t>R</a:t>
            </a:r>
            <a:r>
              <a:rPr lang="en-US" altLang="en-US" dirty="0"/>
              <a:t>²</a:t>
            </a:r>
            <a:r>
              <a:rPr lang="en-US" altLang="zh-CN" dirty="0"/>
              <a:t> </a:t>
            </a:r>
            <a:r>
              <a:rPr lang="zh-CN" altLang="en-US" dirty="0"/>
              <a:t>从</a:t>
            </a:r>
            <a:r>
              <a:rPr lang="en-US" altLang="zh-CN" dirty="0"/>
              <a:t> 0.159 </a:t>
            </a:r>
            <a:r>
              <a:rPr lang="en-US" altLang="en-US" dirty="0"/>
              <a:t>→</a:t>
            </a:r>
            <a:r>
              <a:rPr lang="en-US" altLang="zh-CN" dirty="0"/>
              <a:t> 0.225</a:t>
            </a:r>
            <a:r>
              <a:rPr lang="zh-CN" altLang="en-US" dirty="0"/>
              <a:t>，提升</a:t>
            </a:r>
            <a:r>
              <a:rPr lang="en-US" altLang="zh-CN" dirty="0"/>
              <a:t> 42%</a:t>
            </a:r>
            <a:r>
              <a:rPr lang="zh-CN" altLang="en-US" dirty="0"/>
              <a:t>，说明模型能更好捕捉肿瘤大小变异；</a:t>
            </a:r>
          </a:p>
          <a:p>
            <a:r>
              <a:rPr lang="zh-CN" altLang="en-US" dirty="0"/>
              <a:t>残差分布改善：</a:t>
            </a:r>
            <a:r>
              <a:rPr lang="en-US" altLang="zh-CN" dirty="0"/>
              <a:t>Omnibus p </a:t>
            </a:r>
            <a:r>
              <a:rPr lang="zh-CN" altLang="en-US" dirty="0"/>
              <a:t>从</a:t>
            </a:r>
            <a:r>
              <a:rPr lang="en-US" altLang="zh-CN" dirty="0"/>
              <a:t> 0.000 </a:t>
            </a:r>
            <a:r>
              <a:rPr lang="en-US" altLang="en-US" dirty="0"/>
              <a:t>→</a:t>
            </a:r>
            <a:r>
              <a:rPr lang="en-US" altLang="zh-CN" dirty="0"/>
              <a:t> 0.007</a:t>
            </a:r>
            <a:r>
              <a:rPr lang="zh-CN" altLang="en-US" dirty="0"/>
              <a:t>，残差更接近正态，满足线性模型假设；</a:t>
            </a:r>
          </a:p>
          <a:p>
            <a:r>
              <a:rPr lang="zh-CN" altLang="en-US" dirty="0"/>
              <a:t>模型更稳健：共线性指数（</a:t>
            </a:r>
            <a:r>
              <a:rPr lang="en-US" altLang="zh-CN" dirty="0"/>
              <a:t>Cond. No.</a:t>
            </a:r>
            <a:r>
              <a:rPr lang="zh-CN" altLang="en-US" dirty="0"/>
              <a:t>）从</a:t>
            </a:r>
            <a:r>
              <a:rPr lang="en-US" altLang="zh-CN" dirty="0"/>
              <a:t> 15.0 </a:t>
            </a:r>
            <a:r>
              <a:rPr lang="en-US" altLang="en-US" dirty="0"/>
              <a:t>→</a:t>
            </a:r>
            <a:r>
              <a:rPr lang="en-US" altLang="zh-CN" dirty="0"/>
              <a:t> 14.9</a:t>
            </a:r>
            <a:r>
              <a:rPr lang="zh-CN" altLang="en-US" dirty="0"/>
              <a:t>，无任何共线性风险。</a:t>
            </a:r>
          </a:p>
          <a:p>
            <a:r>
              <a:rPr lang="zh-CN" altLang="en-US" dirty="0"/>
              <a:t>这些改进证明，删除强影响点不是</a:t>
            </a:r>
            <a:r>
              <a:rPr lang="en-US" altLang="zh-CN" dirty="0"/>
              <a:t>‘</a:t>
            </a:r>
            <a:r>
              <a:rPr lang="zh-CN" altLang="en-US" dirty="0"/>
              <a:t>丢弃数据</a:t>
            </a:r>
            <a:r>
              <a:rPr lang="en-US" altLang="zh-CN" dirty="0"/>
              <a:t>’</a:t>
            </a:r>
            <a:r>
              <a:rPr lang="zh-CN" altLang="en-US" dirty="0"/>
              <a:t>，而是</a:t>
            </a:r>
            <a:r>
              <a:rPr lang="en-US" altLang="zh-CN" dirty="0"/>
              <a:t>‘</a:t>
            </a:r>
            <a:r>
              <a:rPr lang="zh-CN" altLang="en-US" dirty="0"/>
              <a:t>去噪提纯</a:t>
            </a:r>
            <a:r>
              <a:rPr lang="en-US" altLang="zh-CN" dirty="0"/>
              <a:t>’</a:t>
            </a:r>
            <a:r>
              <a:rPr lang="zh-CN" altLang="en-US" dirty="0"/>
              <a:t>，让模型更真实反映生物规律。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这是我们的最终模型：基于</a:t>
            </a:r>
            <a:r>
              <a:rPr lang="en-US" altLang="zh-CN" dirty="0"/>
              <a:t> 1420 </a:t>
            </a:r>
            <a:r>
              <a:rPr lang="zh-CN" altLang="en-US" dirty="0"/>
              <a:t>个样本，</a:t>
            </a:r>
            <a:r>
              <a:rPr lang="en-US" altLang="zh-CN" dirty="0"/>
              <a:t>28 </a:t>
            </a:r>
            <a:r>
              <a:rPr lang="zh-CN" altLang="en-US" dirty="0"/>
              <a:t>个变量，无任何强影响点。</a:t>
            </a:r>
          </a:p>
          <a:p>
            <a:r>
              <a:rPr lang="zh-CN" altLang="en-US" dirty="0"/>
              <a:t>模型拟合良好：</a:t>
            </a:r>
            <a:r>
              <a:rPr lang="en-US" altLang="zh-CN" dirty="0"/>
              <a:t>R</a:t>
            </a:r>
            <a:r>
              <a:rPr lang="en-US" altLang="en-US" dirty="0"/>
              <a:t>²</a:t>
            </a:r>
            <a:r>
              <a:rPr lang="en-US" altLang="zh-CN" dirty="0"/>
              <a:t>=0.223</a:t>
            </a:r>
            <a:r>
              <a:rPr lang="zh-CN" altLang="en-US" dirty="0"/>
              <a:t>，调整</a:t>
            </a:r>
            <a:r>
              <a:rPr lang="en-US" altLang="zh-CN" dirty="0"/>
              <a:t> R</a:t>
            </a:r>
            <a:r>
              <a:rPr lang="en-US" altLang="en-US" dirty="0"/>
              <a:t>²</a:t>
            </a:r>
            <a:r>
              <a:rPr lang="en-US" altLang="zh-CN" dirty="0"/>
              <a:t>=0.207</a:t>
            </a:r>
            <a:r>
              <a:rPr lang="zh-CN" altLang="en-US" dirty="0"/>
              <a:t>，</a:t>
            </a:r>
            <a:r>
              <a:rPr lang="en-US" altLang="zh-CN" dirty="0"/>
              <a:t>F</a:t>
            </a:r>
            <a:r>
              <a:rPr lang="zh-CN" altLang="en-US" dirty="0"/>
              <a:t>检验高度显著。</a:t>
            </a:r>
          </a:p>
          <a:p>
            <a:r>
              <a:rPr lang="zh-CN" altLang="en-US" dirty="0"/>
              <a:t>诊断指标理想：残差近正态，无共线性（</a:t>
            </a:r>
            <a:r>
              <a:rPr lang="en-US" altLang="zh-CN" dirty="0"/>
              <a:t>Cond. No.=20.1&lt;30</a:t>
            </a:r>
            <a:r>
              <a:rPr lang="zh-CN" altLang="en-US" dirty="0"/>
              <a:t>）。</a:t>
            </a:r>
          </a:p>
          <a:p>
            <a:r>
              <a:rPr lang="zh-CN" altLang="en-US" dirty="0"/>
              <a:t>共</a:t>
            </a:r>
            <a:r>
              <a:rPr lang="en-US" altLang="zh-CN" dirty="0"/>
              <a:t> 8 </a:t>
            </a:r>
            <a:r>
              <a:rPr lang="zh-CN" altLang="en-US" dirty="0"/>
              <a:t>个变量显著（</a:t>
            </a:r>
            <a:r>
              <a:rPr lang="en-US" altLang="zh-CN" dirty="0"/>
              <a:t>p&lt;0.05</a:t>
            </a:r>
            <a:r>
              <a:rPr lang="zh-CN" altLang="en-US" dirty="0"/>
              <a:t>），包括</a:t>
            </a:r>
            <a:r>
              <a:rPr lang="en-US" altLang="zh-CN" dirty="0"/>
              <a:t> 4 </a:t>
            </a:r>
            <a:r>
              <a:rPr lang="zh-CN" altLang="en-US" dirty="0"/>
              <a:t>个临床和</a:t>
            </a:r>
            <a:r>
              <a:rPr lang="en-US" altLang="zh-CN" dirty="0"/>
              <a:t> 4 </a:t>
            </a:r>
            <a:r>
              <a:rPr lang="zh-CN" altLang="en-US" dirty="0"/>
              <a:t>个基因，接下来我们逐一解读。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四个临床变量显著预测肿瘤大小：</a:t>
            </a:r>
          </a:p>
          <a:p>
            <a:r>
              <a:rPr lang="en-US" altLang="zh-CN" dirty="0"/>
              <a:t>1. </a:t>
            </a:r>
            <a:r>
              <a:rPr lang="zh-CN" altLang="en-US" dirty="0"/>
              <a:t>淋巴结转移（</a:t>
            </a:r>
            <a:r>
              <a:rPr lang="en-US" altLang="zh-CN" dirty="0"/>
              <a:t>lymph_log_scaled</a:t>
            </a:r>
            <a:r>
              <a:rPr lang="zh-CN" altLang="en-US" dirty="0"/>
              <a:t>）：</a:t>
            </a:r>
          </a:p>
          <a:p>
            <a:r>
              <a:rPr lang="zh-CN" altLang="en-US" dirty="0"/>
              <a:t>这是最强预测因子。由于我们对淋巴结数做了</a:t>
            </a:r>
            <a:r>
              <a:rPr lang="en-US" altLang="zh-CN" dirty="0"/>
              <a:t> log(lymph+1) </a:t>
            </a:r>
            <a:r>
              <a:rPr lang="zh-CN" altLang="en-US" dirty="0"/>
              <a:t>变换，系数</a:t>
            </a:r>
            <a:r>
              <a:rPr lang="en-US" altLang="zh-CN" dirty="0"/>
              <a:t> 0.126 </a:t>
            </a:r>
            <a:r>
              <a:rPr lang="zh-CN" altLang="en-US" dirty="0"/>
              <a:t>表示：淋巴结每增加</a:t>
            </a:r>
            <a:r>
              <a:rPr lang="en-US" altLang="zh-CN" dirty="0"/>
              <a:t> 1 </a:t>
            </a:r>
            <a:r>
              <a:rPr lang="zh-CN" altLang="en-US" dirty="0"/>
              <a:t>个单位</a:t>
            </a:r>
            <a:r>
              <a:rPr lang="en-US" altLang="zh-CN" dirty="0"/>
              <a:t> log(lymph+1)</a:t>
            </a:r>
            <a:r>
              <a:rPr lang="zh-CN" altLang="en-US" dirty="0"/>
              <a:t>，肿瘤直径增大</a:t>
            </a:r>
            <a:r>
              <a:rPr lang="en-US" altLang="zh-CN" dirty="0"/>
              <a:t> 13.4%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年龄（</a:t>
            </a:r>
            <a:r>
              <a:rPr lang="en-US" altLang="zh-CN" dirty="0"/>
              <a:t>age_scaled</a:t>
            </a:r>
            <a:r>
              <a:rPr lang="zh-CN" altLang="en-US" dirty="0"/>
              <a:t>）：</a:t>
            </a:r>
          </a:p>
          <a:p>
            <a:r>
              <a:rPr lang="zh-CN" altLang="en-US" dirty="0"/>
              <a:t>年龄经过标准化（</a:t>
            </a:r>
            <a:r>
              <a:rPr lang="en-US" altLang="zh-CN" dirty="0"/>
              <a:t>Z-score</a:t>
            </a:r>
            <a:r>
              <a:rPr lang="zh-CN" altLang="en-US" dirty="0"/>
              <a:t>），系数</a:t>
            </a:r>
            <a:r>
              <a:rPr lang="en-US" altLang="zh-CN" dirty="0"/>
              <a:t> 0.042 </a:t>
            </a:r>
            <a:r>
              <a:rPr lang="zh-CN" altLang="en-US" dirty="0"/>
              <a:t>表示：年龄每增加</a:t>
            </a:r>
            <a:r>
              <a:rPr lang="en-US" altLang="zh-CN" dirty="0"/>
              <a:t> 1 </a:t>
            </a:r>
            <a:r>
              <a:rPr lang="zh-CN" altLang="en-US" dirty="0"/>
              <a:t>个标准差（约</a:t>
            </a:r>
            <a:r>
              <a:rPr lang="en-US" altLang="zh-CN" dirty="0"/>
              <a:t> 12 </a:t>
            </a:r>
            <a:r>
              <a:rPr lang="zh-CN" altLang="en-US" dirty="0"/>
              <a:t>岁）。</a:t>
            </a:r>
          </a:p>
          <a:p>
            <a:r>
              <a:rPr lang="en-US" altLang="zh-CN" dirty="0"/>
              <a:t>3. </a:t>
            </a:r>
            <a:r>
              <a:rPr lang="zh-CN" altLang="en-US" dirty="0"/>
              <a:t>组织学分级（</a:t>
            </a:r>
            <a:r>
              <a:rPr lang="en-US" altLang="zh-CN" dirty="0"/>
              <a:t>grade_3.0</a:t>
            </a:r>
            <a:r>
              <a:rPr lang="zh-CN" altLang="en-US" dirty="0"/>
              <a:t>）：</a:t>
            </a:r>
          </a:p>
          <a:p>
            <a:r>
              <a:rPr lang="en-US" altLang="zh-CN" dirty="0"/>
              <a:t>Grade 3</a:t>
            </a:r>
            <a:r>
              <a:rPr lang="zh-CN" altLang="en-US" dirty="0"/>
              <a:t>（低分化），肿瘤直径比</a:t>
            </a:r>
            <a:r>
              <a:rPr lang="en-US" altLang="zh-CN" dirty="0"/>
              <a:t> Grade 1 </a:t>
            </a:r>
            <a:r>
              <a:rPr lang="zh-CN" altLang="en-US" dirty="0"/>
              <a:t>大</a:t>
            </a:r>
            <a:r>
              <a:rPr lang="en-US" altLang="zh-CN" dirty="0"/>
              <a:t> 11.4%</a:t>
            </a:r>
            <a:r>
              <a:rPr lang="zh-CN" altLang="en-US" dirty="0"/>
              <a:t>，符合病理学常识。</a:t>
            </a:r>
          </a:p>
          <a:p>
            <a:r>
              <a:rPr lang="en-US" altLang="zh-CN" dirty="0"/>
              <a:t>4. </a:t>
            </a:r>
            <a:r>
              <a:rPr lang="zh-CN" altLang="en-US" dirty="0"/>
              <a:t>队列效应（</a:t>
            </a:r>
            <a:r>
              <a:rPr lang="en-US" altLang="zh-CN" dirty="0"/>
              <a:t>cohort_2.0</a:t>
            </a:r>
            <a:r>
              <a:rPr lang="zh-CN" altLang="en-US" dirty="0"/>
              <a:t>）：</a:t>
            </a:r>
          </a:p>
          <a:p>
            <a:r>
              <a:rPr lang="zh-CN" altLang="en-US" dirty="0"/>
              <a:t>队列</a:t>
            </a:r>
            <a:r>
              <a:rPr lang="en-US" altLang="zh-CN" dirty="0"/>
              <a:t>2 </a:t>
            </a:r>
            <a:r>
              <a:rPr lang="zh-CN" altLang="en-US" dirty="0"/>
              <a:t>的肿瘤比队列</a:t>
            </a:r>
            <a:r>
              <a:rPr lang="en-US" altLang="zh-CN" dirty="0"/>
              <a:t>1 </a:t>
            </a:r>
            <a:r>
              <a:rPr lang="zh-CN" altLang="en-US" dirty="0"/>
              <a:t>小</a:t>
            </a:r>
            <a:r>
              <a:rPr lang="en-US" altLang="zh-CN" dirty="0"/>
              <a:t> 7.3%</a:t>
            </a:r>
            <a:r>
              <a:rPr lang="zh-CN" altLang="en-US" dirty="0"/>
              <a:t>，可能反映不同中心的检测或人群差异。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这些基因要么是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踩油门的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（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mapk3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），要么是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因为车跑太快而不得不加班修路的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（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msh6, tp53bp1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），或者是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负责让车跑得更野的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（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acvr1b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）。</a:t>
            </a:r>
            <a:endParaRPr lang="en-US" altLang="zh-CN" b="1" i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/>
            <a:r>
              <a:rPr lang="en-US" altLang="zh-CN" b="1" i="0" dirty="0">
                <a:solidFill>
                  <a:srgbClr val="000000"/>
                </a:solidFill>
                <a:effectLst/>
                <a:latin typeface="ui-sans-serif"/>
              </a:rPr>
              <a:t>(1) Brown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模块（增殖相关）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基因：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ui-sans-serif"/>
              </a:rPr>
              <a:t>msh6</a:t>
            </a:r>
            <a:endParaRPr lang="zh-CN" altLang="en-US" b="0" i="0" dirty="0">
              <a:solidFill>
                <a:srgbClr val="4E4E4E"/>
              </a:solidFill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系数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+0.048 (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正相关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已知功能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DNA 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错配修复基因。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合理性分析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：这是一个典型的“增殖标志物”。细胞分裂越快（肿瘤长得越大），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DNA 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复制过程中产生的错误就越多，因此细胞必须高表达 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msh6 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来拼命修复这些错误。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高表达反映了高复制压力。</a:t>
            </a:r>
            <a:endParaRPr lang="zh-CN" altLang="en-US" b="0" i="0" dirty="0">
              <a:solidFill>
                <a:srgbClr val="4E4E4E"/>
              </a:solidFill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结论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：系数为正完全合理。它不是因为它导致了肿瘤变大，而是因为它在那些长得快、分裂旺盛的大肿瘤里“加班工作”，所以表达量高。</a:t>
            </a:r>
          </a:p>
          <a:p>
            <a:pPr algn="l"/>
            <a:r>
              <a:rPr lang="en-US" altLang="zh-CN" b="1" i="0" dirty="0">
                <a:solidFill>
                  <a:srgbClr val="000000"/>
                </a:solidFill>
                <a:effectLst/>
                <a:latin typeface="ui-sans-serif"/>
              </a:rPr>
              <a:t>(2) Red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模块（管腔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ui-sans-serif"/>
              </a:rPr>
              <a:t>/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侵袭相关）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基因：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ui-sans-serif"/>
              </a:rPr>
              <a:t>mapk3</a:t>
            </a:r>
            <a:endParaRPr lang="zh-CN" altLang="en-US" b="0" i="0" dirty="0">
              <a:solidFill>
                <a:srgbClr val="4E4E4E"/>
              </a:solidFill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系数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+0.032 (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正相关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已知功能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MAPK/ERK 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信号通路的核心成员。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合理性分析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：这是细胞内最著名的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“生长加速器”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 。一旦该通路激活，细胞就会疯狂增殖。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mapk3 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高表达直接意味着生长信号强。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结论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：系数为正完全合理，非常符合“促进生长”的角色。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基因：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ui-sans-serif"/>
              </a:rPr>
              <a:t>acvr1b</a:t>
            </a:r>
            <a:endParaRPr lang="zh-CN" altLang="en-US" b="0" i="0" dirty="0">
              <a:solidFill>
                <a:srgbClr val="4E4E4E"/>
              </a:solidFill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系数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+0.035 (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正相关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已知功能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Activin 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受体，属于 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TGF-β 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超家族。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合理性分析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：虽然 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TGF-β 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在早期癌症中抑制生长，但在晚期癌症中（特别是乳腺癌），它通常通过诱导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ui-sans-serif"/>
              </a:rPr>
              <a:t>EMT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（上皮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ui-sans-serif"/>
              </a:rPr>
              <a:t>-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间质转化）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 来促进侵袭和转移，且与肿瘤进展和不良预后相关。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结论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：系数为正合理。它提示该基因的高表达参与了更具有侵袭性的肿瘤生长过程。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基因：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ui-sans-serif"/>
              </a:rPr>
              <a:t>tp53bp1</a:t>
            </a:r>
            <a:endParaRPr lang="zh-CN" altLang="en-US" b="0" i="0" dirty="0">
              <a:solidFill>
                <a:srgbClr val="4E4E4E"/>
              </a:solidFill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系数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+0.024 (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正相关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已知功能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DNA 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损伤应答蛋白，与 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p53 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协同工作。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合理性分析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：这个乍一看像抑癌基因（因为它修复 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DNA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），但在大肿瘤中，基因组通常是非常混乱、不稳定的。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tp53bp1 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的高表达实际上是在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“报警”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 ，提示该肿瘤内部存在严重的基因组不稳定性，细胞在试图修复大量的损伤。这种“不稳定”通常伴随着肿瘤的快速演进和生长。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结论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：系数为正合理。它反映了肿瘤内部的混乱程度和恶性增殖状态。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如果评委问：“你的 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R² 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只有 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0.22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，是不是说明模型没用？”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回答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：“是的，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0.22 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的解释力确实不算高，这在复杂的癌症表型预测中很常见。因为肿瘤大小受很多随机因素影响。但我们研究的重点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不在于建立一个完美的临床计算器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，而在于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筛选关键的驱动因子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（如 </a:t>
            </a:r>
            <a:r>
              <a:rPr lang="en-US" altLang="zh-CN" b="0" i="0" dirty="0">
                <a:solidFill>
                  <a:srgbClr val="4E4E4E"/>
                </a:solidFill>
                <a:effectLst/>
                <a:latin typeface="ui-sans-serif"/>
              </a:rPr>
              <a:t>msh6, mapk3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）。即使预测精度有限，这些显著因子的发现本身就具有重要的生物学意义。”</a:t>
            </a:r>
          </a:p>
          <a:p>
            <a:pPr algn="l"/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如果评委问：“为什么分区间中间准，两头不准？”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ui-sans-serif"/>
              </a:rPr>
              <a:t>回答</a:t>
            </a:r>
            <a:r>
              <a:rPr lang="zh-CN" altLang="en-US" b="0" i="0" dirty="0">
                <a:solidFill>
                  <a:srgbClr val="4E4E4E"/>
                </a:solidFill>
                <a:effectLst/>
                <a:latin typeface="ui-sans-serif"/>
              </a:rPr>
              <a:t>：“这是一种典型的‘回归到均值’现象。中等大小的肿瘤往往代表了最典型的生物学特征，数据规律性强；而极小或极大的肿瘤往往伴随着特殊的基因突变或罕见的病理状态，模型难以捕捉这些低频但高异质性的规律。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173616-B609-40DA-9CB5-75981426E4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F0C1-8508-4B3C-BD2F-AC0EB48642AA}" type="datetimeFigureOut">
              <a:rPr lang="zh-CN" altLang="en-US" smtClean="0"/>
              <a:t>2025-12-28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4AFE0-8106-4F27-8F51-172B7F680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F0C1-8508-4B3C-BD2F-AC0EB48642AA}" type="datetimeFigureOut">
              <a:rPr lang="zh-CN" altLang="en-US" smtClean="0"/>
              <a:t>2025-12-28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4AFE0-8106-4F27-8F51-172B7F680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F0C1-8508-4B3C-BD2F-AC0EB48642AA}" type="datetimeFigureOut">
              <a:rPr lang="zh-CN" altLang="en-US" smtClean="0"/>
              <a:t>2025-12-28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4AFE0-8106-4F27-8F51-172B7F680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F0C1-8508-4B3C-BD2F-AC0EB48642AA}" type="datetimeFigureOut">
              <a:rPr lang="zh-CN" altLang="en-US" smtClean="0"/>
              <a:t>2025-12-28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4AFE0-8106-4F27-8F51-172B7F680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F0C1-8508-4B3C-BD2F-AC0EB48642AA}" type="datetimeFigureOut">
              <a:rPr lang="zh-CN" altLang="en-US" smtClean="0"/>
              <a:t>2025-12-28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4AFE0-8106-4F27-8F51-172B7F680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F0C1-8508-4B3C-BD2F-AC0EB48642AA}" type="datetimeFigureOut">
              <a:rPr lang="zh-CN" altLang="en-US" smtClean="0"/>
              <a:t>2025-12-28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4AFE0-8106-4F27-8F51-172B7F680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F0C1-8508-4B3C-BD2F-AC0EB48642AA}" type="datetimeFigureOut">
              <a:rPr lang="zh-CN" altLang="en-US" smtClean="0"/>
              <a:t>2025-12-28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4AFE0-8106-4F27-8F51-172B7F680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F0C1-8508-4B3C-BD2F-AC0EB48642AA}" type="datetimeFigureOut">
              <a:rPr lang="zh-CN" altLang="en-US" smtClean="0"/>
              <a:t>2025-12-28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4AFE0-8106-4F27-8F51-172B7F680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F0C1-8508-4B3C-BD2F-AC0EB48642AA}" type="datetimeFigureOut">
              <a:rPr lang="zh-CN" altLang="en-US" smtClean="0"/>
              <a:t>2025-12-28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4AFE0-8106-4F27-8F51-172B7F680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F0C1-8508-4B3C-BD2F-AC0EB48642AA}" type="datetimeFigureOut">
              <a:rPr lang="zh-CN" altLang="en-US" smtClean="0"/>
              <a:t>2025-12-28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4AFE0-8106-4F27-8F51-172B7F680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F0C1-8508-4B3C-BD2F-AC0EB48642AA}" type="datetimeFigureOut">
              <a:rPr lang="zh-CN" altLang="en-US" smtClean="0"/>
              <a:t>2025-12-28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4AFE0-8106-4F27-8F51-172B7F680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5F0C1-8508-4B3C-BD2F-AC0EB48642AA}" type="datetimeFigureOut">
              <a:rPr lang="zh-CN" altLang="en-US" smtClean="0"/>
              <a:t>2025-12-28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4AFE0-8106-4F27-8F51-172B7F680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69278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乳腺癌肿瘤大小的影响因素及预测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45440" y="1377950"/>
            <a:ext cx="11403965" cy="52698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b="1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因变量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：</a:t>
            </a:r>
            <a:r>
              <a:rPr lang="en-US" altLang="zh-CN" dirty="0" err="1">
                <a:latin typeface="思源黑体 CN" panose="020B0500000000000000" pitchFamily="34" charset="-122"/>
                <a:ea typeface="思源黑体 CN" panose="020B0500000000000000" pitchFamily="34" charset="-122"/>
              </a:rPr>
              <a:t>tumor_size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（连续型，单位 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mm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）</a:t>
            </a:r>
          </a:p>
          <a:p>
            <a:pPr fontAlgn="auto">
              <a:lnSpc>
                <a:spcPct val="150000"/>
              </a:lnSpc>
            </a:pPr>
            <a:r>
              <a:rPr lang="zh-CN" altLang="en-US" b="1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自变量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：临床变量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：(1)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非派生；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(2)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在诊断时已知；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(3)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有独立生物学意义</a:t>
            </a:r>
          </a:p>
          <a:p>
            <a:pPr marL="1200150" lvl="2" indent="-285750" fontAlgn="auto">
              <a:lnSpc>
                <a:spcPct val="100000"/>
              </a:lnSpc>
              <a:buFont typeface="Wingdings" panose="05000000000000000000" charset="0"/>
              <a:buChar char=""/>
            </a:pP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患者基础特征</a:t>
            </a:r>
          </a:p>
          <a:p>
            <a:pPr marL="1657350" lvl="3" indent="-285750" fontAlgn="auto">
              <a:lnSpc>
                <a:spcPct val="100000"/>
              </a:lnSpc>
              <a:buFont typeface="Wingdings" panose="05000000000000000000" charset="0"/>
              <a:buChar char=""/>
            </a:pPr>
            <a:r>
              <a:rPr lang="en-US" altLang="zh-CN" dirty="0" err="1">
                <a:latin typeface="思源黑体 CN" panose="020B0500000000000000" pitchFamily="34" charset="-122"/>
                <a:ea typeface="思源黑体 CN" panose="020B0500000000000000" pitchFamily="34" charset="-122"/>
              </a:rPr>
              <a:t>age_at_diagnosis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（诊断年龄）</a:t>
            </a:r>
            <a:r>
              <a:rPr lang="en-US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→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反映患者基础生理状态，与肿瘤生长动力学相关</a:t>
            </a:r>
          </a:p>
          <a:p>
            <a:pPr marL="1657350" lvl="3" indent="-285750" fontAlgn="auto">
              <a:lnSpc>
                <a:spcPct val="100000"/>
              </a:lnSpc>
              <a:buFont typeface="Wingdings" panose="05000000000000000000" charset="0"/>
              <a:buChar char=""/>
            </a:pPr>
            <a:r>
              <a:rPr lang="en-US" altLang="zh-CN" dirty="0" err="1">
                <a:latin typeface="思源黑体 CN" panose="020B0500000000000000" pitchFamily="34" charset="-122"/>
                <a:ea typeface="思源黑体 CN" panose="020B0500000000000000" pitchFamily="34" charset="-122"/>
              </a:rPr>
              <a:t>inferred_menopausal_state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（绝经状态）</a:t>
            </a:r>
            <a:r>
              <a:rPr lang="en-US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→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代表体内激素环境差异，影响肿瘤生长方式</a:t>
            </a:r>
          </a:p>
          <a:p>
            <a:pPr marL="1200150" lvl="2" indent="-285750" fontAlgn="auto">
              <a:lnSpc>
                <a:spcPct val="100000"/>
              </a:lnSpc>
              <a:buFont typeface="Wingdings" panose="05000000000000000000" charset="0"/>
              <a:buChar char=""/>
            </a:pP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肿瘤负荷与病理特征</a:t>
            </a:r>
          </a:p>
          <a:p>
            <a:pPr marL="1657350" lvl="3" indent="-285750" fontAlgn="auto">
              <a:lnSpc>
                <a:spcPct val="100000"/>
              </a:lnSpc>
              <a:buFont typeface="Wingdings" panose="05000000000000000000" charset="0"/>
              <a:buChar char=""/>
            </a:pP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cellularity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（肿瘤细胞密度）</a:t>
            </a:r>
            <a:r>
              <a:rPr lang="en-US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→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反映样本中肿瘤细胞的数量及成簇程度</a:t>
            </a:r>
          </a:p>
          <a:p>
            <a:pPr marL="1657350" lvl="3" indent="-285750" fontAlgn="auto">
              <a:lnSpc>
                <a:spcPct val="100000"/>
              </a:lnSpc>
              <a:buFont typeface="Wingdings" panose="05000000000000000000" charset="0"/>
              <a:buChar char=""/>
            </a:pPr>
            <a:r>
              <a:rPr lang="en-US" altLang="zh-CN" dirty="0" err="1">
                <a:latin typeface="思源黑体 CN" panose="020B0500000000000000" pitchFamily="34" charset="-122"/>
                <a:ea typeface="思源黑体 CN" panose="020B0500000000000000" pitchFamily="34" charset="-122"/>
              </a:rPr>
              <a:t>neoplasm_histologic_grade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（肿瘤组织学分级）</a:t>
            </a:r>
            <a:r>
              <a:rPr lang="en-US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→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反映肿瘤分化程度和恶性程度</a:t>
            </a:r>
          </a:p>
          <a:p>
            <a:pPr marL="1657350" lvl="3" indent="-285750" fontAlgn="auto">
              <a:lnSpc>
                <a:spcPct val="100000"/>
              </a:lnSpc>
              <a:buFont typeface="Wingdings" panose="05000000000000000000" charset="0"/>
              <a:buChar char=""/>
            </a:pPr>
            <a:r>
              <a:rPr lang="en-US" altLang="zh-CN" dirty="0" err="1">
                <a:latin typeface="思源黑体 CN" panose="020B0500000000000000" pitchFamily="34" charset="-122"/>
                <a:ea typeface="思源黑体 CN" panose="020B0500000000000000" pitchFamily="34" charset="-122"/>
              </a:rPr>
              <a:t>lymph_nodes_examined_positive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（阳性淋巴结数）</a:t>
            </a:r>
            <a:r>
              <a:rPr lang="en-US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→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衡量肿瘤侵袭性和扩散程度</a:t>
            </a:r>
          </a:p>
          <a:p>
            <a:pPr marL="1200150" lvl="2" indent="-285750" fontAlgn="auto">
              <a:lnSpc>
                <a:spcPct val="100000"/>
              </a:lnSpc>
              <a:buFont typeface="Wingdings" panose="05000000000000000000" charset="0"/>
              <a:buChar char=""/>
            </a:pP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分子分型与受体状态</a:t>
            </a:r>
          </a:p>
          <a:p>
            <a:pPr marL="1657350" lvl="3" indent="-285750" fontAlgn="auto">
              <a:lnSpc>
                <a:spcPct val="100000"/>
              </a:lnSpc>
              <a:buFont typeface="Wingdings" panose="05000000000000000000" charset="0"/>
              <a:buChar char=""/>
            </a:pPr>
            <a:r>
              <a:rPr lang="en-US" altLang="zh-CN" dirty="0" err="1">
                <a:latin typeface="思源黑体 CN" panose="020B0500000000000000" pitchFamily="34" charset="-122"/>
                <a:ea typeface="思源黑体 CN" panose="020B0500000000000000" pitchFamily="34" charset="-122"/>
              </a:rPr>
              <a:t>er_status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（癌细胞雌激素受体状态）</a:t>
            </a:r>
            <a:r>
              <a:rPr lang="en-US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→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影响肿瘤对激素信号的依赖性</a:t>
            </a:r>
          </a:p>
          <a:p>
            <a:pPr marL="1657350" lvl="3" indent="-285750" fontAlgn="auto">
              <a:lnSpc>
                <a:spcPct val="100000"/>
              </a:lnSpc>
              <a:buFont typeface="Wingdings" panose="05000000000000000000" charset="0"/>
              <a:buChar char=""/>
            </a:pP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her2_status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（癌症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HER2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状态）</a:t>
            </a:r>
            <a:r>
              <a:rPr lang="en-US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→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与肿瘤增殖活性和侵袭性相关</a:t>
            </a:r>
          </a:p>
          <a:p>
            <a:pPr marL="1657350" lvl="3" indent="-285750" fontAlgn="auto">
              <a:lnSpc>
                <a:spcPct val="100000"/>
              </a:lnSpc>
              <a:buFont typeface="Wingdings" panose="05000000000000000000" charset="0"/>
              <a:buChar char=""/>
            </a:pP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pam50_+_claudin-low_subtype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（分子亚型）</a:t>
            </a:r>
            <a:r>
              <a:rPr lang="en-US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→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综合反映乳腺癌的分子生物学特征</a:t>
            </a:r>
          </a:p>
          <a:p>
            <a:pPr marL="1200150" lvl="2" indent="-285750" fontAlgn="auto">
              <a:lnSpc>
                <a:spcPct val="100000"/>
              </a:lnSpc>
              <a:buFont typeface="Wingdings" panose="05000000000000000000" charset="0"/>
              <a:buChar char=""/>
            </a:pP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队列信息（批次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 /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人群差异控制）</a:t>
            </a:r>
          </a:p>
          <a:p>
            <a:pPr marL="1657350" lvl="3" indent="-285750" fontAlgn="auto">
              <a:lnSpc>
                <a:spcPct val="100000"/>
              </a:lnSpc>
              <a:buFont typeface="Wingdings" panose="05000000000000000000" charset="0"/>
              <a:buChar char=""/>
            </a:pP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cohort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（队列编号）</a:t>
            </a:r>
            <a:r>
              <a:rPr lang="en-US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→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用于控制不同研究批次或人群来源带来的系统差异</a:t>
            </a:r>
          </a:p>
          <a:p>
            <a:pPr lvl="2" indent="0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基因变量：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40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个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hub genes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（核心基因）（来自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red+brown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模块）</a:t>
            </a:r>
          </a:p>
          <a:p>
            <a:pPr fontAlgn="auto">
              <a:lnSpc>
                <a:spcPct val="150000"/>
              </a:lnSpc>
            </a:pPr>
            <a:r>
              <a:rPr lang="zh-CN" altLang="en-US" b="1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模型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：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LASSO 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用于变量选择，后续用普通最小二乘（</a:t>
            </a:r>
            <a:r>
              <a:rPr lang="en-US" altLang="zh-CN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OLS</a:t>
            </a:r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</a:rPr>
              <a:t>）进行统计推断与诊断。</a:t>
            </a:r>
          </a:p>
          <a:p>
            <a:pPr indent="457200" fontAlgn="auto">
              <a:lnSpc>
                <a:spcPct val="150000"/>
              </a:lnSpc>
            </a:pPr>
            <a:endParaRPr lang="zh-CN" altLang="en-US" dirty="0"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69278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因变量处理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——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肿瘤大小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45440" y="1667510"/>
            <a:ext cx="5570855" cy="383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原始缺失率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：1.05%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1884/1904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样本有效）</a:t>
            </a: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Box-Cox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变换的效果略优于对数变换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，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但对数变换临床可解释性强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，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在模型性能和可解释性之间取得平衡。</a:t>
            </a:r>
          </a:p>
        </p:txBody>
      </p:sp>
      <p:pic>
        <p:nvPicPr>
          <p:cNvPr id="4" name="图片 3"/>
          <p:cNvPicPr/>
          <p:nvPr/>
        </p:nvPicPr>
        <p:blipFill>
          <a:blip r:embed="rId3"/>
          <a:srcRect t="6056"/>
          <a:stretch>
            <a:fillRect/>
          </a:stretch>
        </p:blipFill>
        <p:spPr>
          <a:xfrm>
            <a:off x="6179185" y="766445"/>
            <a:ext cx="5570220" cy="6028055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/>
        </p:nvGraphicFramePr>
        <p:xfrm>
          <a:off x="443230" y="2379345"/>
          <a:ext cx="4549140" cy="178689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1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6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dirty="0">
                          <a:solidFill>
                            <a:srgbClr val="191B1F"/>
                          </a:solidFill>
                          <a:effectLst/>
                          <a:latin typeface="+mn-ea"/>
                        </a:rPr>
                        <a:t>转换方法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dirty="0">
                          <a:solidFill>
                            <a:srgbClr val="191B1F"/>
                          </a:solidFill>
                          <a:effectLst/>
                          <a:latin typeface="+mn-ea"/>
                        </a:rPr>
                        <a:t>偏度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dirty="0">
                          <a:solidFill>
                            <a:srgbClr val="191B1F"/>
                          </a:solidFill>
                          <a:effectLst/>
                          <a:latin typeface="+mn-ea"/>
                        </a:rPr>
                        <a:t>峰度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>
                          <a:solidFill>
                            <a:srgbClr val="191B1F"/>
                          </a:solidFill>
                          <a:effectLst/>
                          <a:latin typeface="+mn-ea"/>
                        </a:rPr>
                        <a:t>原始数据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>
                          <a:solidFill>
                            <a:srgbClr val="191B1F"/>
                          </a:solidFill>
                          <a:effectLst/>
                          <a:latin typeface="+mn-ea"/>
                        </a:rPr>
                        <a:t>3.2725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>
                          <a:solidFill>
                            <a:srgbClr val="191B1F"/>
                          </a:solidFill>
                          <a:effectLst/>
                          <a:latin typeface="+mn-ea"/>
                        </a:rPr>
                        <a:t>20.8578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>
                          <a:solidFill>
                            <a:srgbClr val="191B1F"/>
                          </a:solidFill>
                          <a:effectLst/>
                          <a:latin typeface="+mn-ea"/>
                        </a:rPr>
                        <a:t>对数</a:t>
                      </a:r>
                      <a:r>
                        <a:rPr lang="zh-CN" altLang="en-US" sz="1800" dirty="0">
                          <a:solidFill>
                            <a:srgbClr val="191B1F"/>
                          </a:solidFill>
                          <a:effectLst/>
                          <a:latin typeface="+mn-ea"/>
                        </a:rPr>
                        <a:t>变</a:t>
                      </a:r>
                      <a:r>
                        <a:rPr lang="en-US" altLang="zh-CN" sz="1800" dirty="0">
                          <a:solidFill>
                            <a:srgbClr val="191B1F"/>
                          </a:solidFill>
                          <a:effectLst/>
                          <a:latin typeface="+mn-ea"/>
                        </a:rPr>
                        <a:t>换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>
                          <a:solidFill>
                            <a:srgbClr val="191B1F"/>
                          </a:solidFill>
                          <a:effectLst/>
                          <a:latin typeface="+mn-ea"/>
                        </a:rPr>
                        <a:t>-0.3978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>
                          <a:solidFill>
                            <a:srgbClr val="191B1F"/>
                          </a:solidFill>
                          <a:effectLst/>
                          <a:latin typeface="+mn-ea"/>
                        </a:rPr>
                        <a:t>3.9978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>
                          <a:solidFill>
                            <a:srgbClr val="191B1F"/>
                          </a:solidFill>
                          <a:effectLst/>
                          <a:latin typeface="+mn-ea"/>
                          <a:cs typeface="+mn-ea"/>
                        </a:rPr>
                        <a:t>Box-Cox</a:t>
                      </a:r>
                      <a:r>
                        <a:rPr lang="zh-CN" altLang="en-US" sz="1800" dirty="0">
                          <a:solidFill>
                            <a:srgbClr val="191B1F"/>
                          </a:solidFill>
                          <a:effectLst/>
                          <a:latin typeface="+mn-ea"/>
                          <a:cs typeface="+mn-ea"/>
                        </a:rPr>
                        <a:t>变</a:t>
                      </a:r>
                      <a:r>
                        <a:rPr lang="en-US" altLang="zh-CN" sz="1800" dirty="0">
                          <a:solidFill>
                            <a:srgbClr val="191B1F"/>
                          </a:solidFill>
                          <a:effectLst/>
                          <a:latin typeface="+mn-ea"/>
                          <a:cs typeface="+mn-ea"/>
                        </a:rPr>
                        <a:t>换 (λ=0.1995)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>
                          <a:solidFill>
                            <a:srgbClr val="191B1F"/>
                          </a:solidFill>
                          <a:effectLst/>
                          <a:latin typeface="+mn-ea"/>
                        </a:rPr>
                        <a:t>0.1272</a:t>
                      </a:r>
                    </a:p>
                  </a:txBody>
                  <a:tcPr marL="13017" marR="13017" marT="13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>
                          <a:solidFill>
                            <a:srgbClr val="191B1F"/>
                          </a:solidFill>
                          <a:effectLst/>
                          <a:latin typeface="+mn-ea"/>
                        </a:rPr>
                        <a:t>3.4074</a:t>
                      </a:r>
                    </a:p>
                  </a:txBody>
                  <a:tcPr marL="13017" marR="13017" marT="1301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69278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临床变量处理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——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缺失值填补</a:t>
            </a:r>
          </a:p>
        </p:txBody>
      </p:sp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8351520" y="751840"/>
            <a:ext cx="3166110" cy="49936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845550" y="5745480"/>
            <a:ext cx="267208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思源黑体 CN" panose="020B0500000000000000" pitchFamily="34" charset="-122"/>
                <a:ea typeface="思源黑体 CN" panose="020B0500000000000000" pitchFamily="34" charset="-122"/>
              </a:rPr>
              <a:t>可视为随机缺失（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思源黑体 CN" panose="020B0500000000000000" pitchFamily="34" charset="-122"/>
                <a:ea typeface="思源黑体 CN" panose="020B0500000000000000" pitchFamily="34" charset="-122"/>
              </a:rPr>
              <a:t>MAR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思源黑体 CN" panose="020B0500000000000000" pitchFamily="34" charset="-122"/>
                <a:ea typeface="思源黑体 CN" panose="020B0500000000000000" pitchFamily="34" charset="-122"/>
              </a:rPr>
              <a:t>）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443230" y="1630680"/>
          <a:ext cx="7646670" cy="2949890"/>
        </p:xfrm>
        <a:graphic>
          <a:graphicData uri="http://schemas.openxmlformats.org/drawingml/2006/table">
            <a:tbl>
              <a:tblPr/>
              <a:tblGrid>
                <a:gridCol w="3766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1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+mn-ea"/>
                        </a:rPr>
                        <a:t>变量名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+mn-ea"/>
                        </a:rPr>
                        <a:t>缺失数量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+mn-ea"/>
                          <a:cs typeface="+mn-ea"/>
                        </a:rPr>
                        <a:t>缺失比例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  <a:cs typeface="+mn-ea"/>
                        </a:rPr>
                        <a:t>(%)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age_at_diagnosis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FF0000"/>
                          </a:solidFill>
                          <a:latin typeface="+mn-ea"/>
                        </a:rPr>
                        <a:t>cellularity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FF0000"/>
                          </a:solidFill>
                          <a:latin typeface="+mn-ea"/>
                        </a:rPr>
                        <a:t>52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FF0000"/>
                          </a:solidFill>
                          <a:latin typeface="+mn-ea"/>
                        </a:rPr>
                        <a:t>2.76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cohort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er_status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her2_status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inferred_menopausal_state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lymph_nodes_examined_positive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FF0000"/>
                          </a:solidFill>
                          <a:latin typeface="+mn-ea"/>
                        </a:rPr>
                        <a:t>neoplasm_histologic_grade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FF0000"/>
                          </a:solidFill>
                          <a:latin typeface="+mn-ea"/>
                        </a:rPr>
                        <a:t>69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FF0000"/>
                          </a:solidFill>
                          <a:latin typeface="+mn-ea"/>
                        </a:rPr>
                        <a:t>3.66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pam50_+_claudin-low_subtype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43229" y="4839335"/>
            <a:ext cx="7161337" cy="150368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0" i="0" dirty="0">
                <a:solidFill>
                  <a:srgbClr val="000000"/>
                </a:solidFill>
                <a:latin typeface="+mn-ea"/>
              </a:rPr>
              <a:t>填补策略：</a:t>
            </a:r>
          </a:p>
          <a:p>
            <a:pPr marL="285750" indent="-28575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"/>
            </a:pPr>
            <a:r>
              <a:rPr lang="en-US" altLang="zh-CN" sz="1800" b="0" i="0" dirty="0">
                <a:solidFill>
                  <a:srgbClr val="000000"/>
                </a:solidFill>
                <a:latin typeface="+mn-ea"/>
              </a:rPr>
              <a:t>c</a:t>
            </a:r>
            <a:r>
              <a:rPr lang="zh-CN" altLang="en-US" sz="1800" b="0" i="0" dirty="0">
                <a:solidFill>
                  <a:srgbClr val="000000"/>
                </a:solidFill>
                <a:latin typeface="+mn-ea"/>
              </a:rPr>
              <a:t>ellularity → 众数填充（"High"）</a:t>
            </a:r>
          </a:p>
          <a:p>
            <a:pPr marL="285750" indent="-28575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"/>
            </a:pPr>
            <a:r>
              <a:rPr lang="zh-CN" altLang="en-US" sz="1800" b="0" i="0" dirty="0">
                <a:solidFill>
                  <a:srgbClr val="000000"/>
                </a:solidFill>
                <a:latin typeface="+mn-ea"/>
              </a:rPr>
              <a:t>grade → 创建"Missing"类别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69278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临床变量处理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——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标准化编码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43230" y="1471930"/>
            <a:ext cx="10317480" cy="502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二分类变量（</a:t>
            </a:r>
            <a:r>
              <a:rPr lang="en-US" altLang="zh-CN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3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个）</a:t>
            </a:r>
            <a:r>
              <a:rPr lang="en-US" altLang="zh-CN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：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er_status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ER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状态）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</a:t>
            </a:r>
            <a:r>
              <a:rPr lang="en-US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0=Negative,  1=Positive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her2_status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HER2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状态）</a:t>
            </a:r>
            <a:r>
              <a:rPr lang="en-US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0=Negative, 1=Positive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inferred_menopausal_state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（绝经状态）</a:t>
            </a:r>
            <a:r>
              <a:rPr lang="en-US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0=Pre, 1=Post</a:t>
            </a:r>
          </a:p>
          <a:p>
            <a:pPr fontAlgn="auto">
              <a:lnSpc>
                <a:spcPct val="150000"/>
              </a:lnSpc>
            </a:pPr>
            <a:r>
              <a:rPr lang="zh-CN" altLang="en-US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连续变量（</a:t>
            </a:r>
            <a:r>
              <a:rPr lang="en-US" altLang="zh-CN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2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个）</a:t>
            </a:r>
            <a:r>
              <a:rPr lang="en-US" altLang="zh-CN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：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age_at_diagnosis  </a:t>
            </a:r>
            <a:r>
              <a:rPr lang="en-US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标准化（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Z-score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）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lymph_nodes_examined_positive  </a:t>
            </a:r>
            <a:r>
              <a:rPr lang="en-US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log(lymph+1) +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标准化</a:t>
            </a:r>
          </a:p>
          <a:p>
            <a:pPr fontAlgn="auto">
              <a:lnSpc>
                <a:spcPct val="150000"/>
              </a:lnSpc>
            </a:pPr>
            <a:r>
              <a:rPr lang="zh-CN" altLang="en-US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多分类变量（</a:t>
            </a:r>
            <a:r>
              <a:rPr lang="en-US" altLang="zh-CN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4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个）</a:t>
            </a:r>
            <a:r>
              <a:rPr lang="en-US" altLang="zh-CN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：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neoplasm_histologic_grade  </a:t>
            </a:r>
            <a:r>
              <a:rPr lang="en-US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哑变量（参考：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Grade 1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）</a:t>
            </a:r>
            <a:endParaRPr lang="en-US" altLang="zh-CN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cellularity </a:t>
            </a:r>
            <a:r>
              <a:rPr lang="en-US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哑变量（参考：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High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）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pam50_+_claudin-low_subtype </a:t>
            </a:r>
            <a:r>
              <a:rPr lang="en-US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哑变量（参考：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LumA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）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cohort </a:t>
            </a:r>
            <a:r>
              <a:rPr lang="en-US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哑变量（参考：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Cohort 1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B5FCC9-D598-8921-9DBB-249C3F5685E0}"/>
              </a:ext>
            </a:extLst>
          </p:cNvPr>
          <p:cNvSpPr txBox="1"/>
          <p:nvPr/>
        </p:nvSpPr>
        <p:spPr>
          <a:xfrm>
            <a:off x="9327102" y="2925046"/>
            <a:ext cx="1217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191B1F"/>
                </a:solidFill>
                <a:latin typeface="+mn-ea"/>
                <a:cs typeface="+mn-ea"/>
              </a:rPr>
              <a:t>9</a:t>
            </a:r>
            <a:r>
              <a:rPr lang="en-US" altLang="zh-CN" dirty="0">
                <a:solidFill>
                  <a:srgbClr val="191B1F"/>
                </a:solidFill>
                <a:latin typeface="+mn-ea"/>
                <a:cs typeface="+mn-ea"/>
              </a:rPr>
              <a:t> </a:t>
            </a:r>
            <a:r>
              <a:rPr lang="zh-CN" altLang="en-US" dirty="0">
                <a:solidFill>
                  <a:srgbClr val="191B1F"/>
                </a:solidFill>
                <a:latin typeface="+mn-ea"/>
                <a:cs typeface="+mn-ea"/>
              </a:rPr>
              <a:t>个变量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F90188-06B3-1D9F-B403-ED76FDCC7793}"/>
              </a:ext>
            </a:extLst>
          </p:cNvPr>
          <p:cNvSpPr txBox="1"/>
          <p:nvPr/>
        </p:nvSpPr>
        <p:spPr>
          <a:xfrm>
            <a:off x="9051180" y="4045851"/>
            <a:ext cx="1709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191B1F"/>
                </a:solidFill>
                <a:latin typeface="+mn-ea"/>
                <a:cs typeface="+mn-ea"/>
              </a:rPr>
              <a:t>20</a:t>
            </a:r>
            <a:r>
              <a:rPr lang="en-US" altLang="zh-CN" dirty="0">
                <a:solidFill>
                  <a:srgbClr val="191B1F"/>
                </a:solidFill>
                <a:latin typeface="+mn-ea"/>
                <a:cs typeface="+mn-ea"/>
              </a:rPr>
              <a:t> </a:t>
            </a:r>
            <a:r>
              <a:rPr lang="zh-CN" altLang="en-US" dirty="0">
                <a:solidFill>
                  <a:srgbClr val="191B1F"/>
                </a:solidFill>
                <a:latin typeface="+mn-ea"/>
                <a:cs typeface="+mn-ea"/>
              </a:rPr>
              <a:t>个模型特征</a:t>
            </a: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0A90B26F-C759-23FD-89A2-94886396CDF3}"/>
              </a:ext>
            </a:extLst>
          </p:cNvPr>
          <p:cNvSpPr/>
          <p:nvPr/>
        </p:nvSpPr>
        <p:spPr>
          <a:xfrm>
            <a:off x="9753600" y="3489515"/>
            <a:ext cx="238539" cy="296016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69278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基因变量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443063" y="1569929"/>
          <a:ext cx="3432008" cy="4926724"/>
        </p:xfrm>
        <a:graphic>
          <a:graphicData uri="http://schemas.openxmlformats.org/drawingml/2006/table">
            <a:tbl>
              <a:tblPr/>
              <a:tblGrid>
                <a:gridCol w="692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30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gene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moduleColor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kME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abs_kME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8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chek1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0.83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0.83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ccne1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0.82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0.82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aurka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0.78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0.78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cdc25a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0.78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0.78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e2f2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0.76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0.76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e2f3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cdk1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fancd2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0.69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0.69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cdkn2a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0.63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0.63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msh6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0.63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0.63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e2f7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0.60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0.60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rad51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0.59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0.59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chek2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0.58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0.58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rbl1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0.58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0.58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srd5a1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0.55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0.55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cdk2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mmp12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ccnb1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map2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0.52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0.52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30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e2f8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brown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4449010" y="1563118"/>
          <a:ext cx="3660276" cy="4926768"/>
        </p:xfrm>
        <a:graphic>
          <a:graphicData uri="http://schemas.openxmlformats.org/drawingml/2006/table">
            <a:tbl>
              <a:tblPr/>
              <a:tblGrid>
                <a:gridCol w="886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1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gene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moduleColor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kME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abs_kME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gata3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0.87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0.87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mapt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igf1r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aph1b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bcl2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0.71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erbb3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0.68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0.68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ccnd1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0.63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0.63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0.61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0.61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ahnak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0.59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0.59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npnt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0.58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0.58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bmpr1b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0.56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0.56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tbx3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0.56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0.56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nrip1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0.53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0.53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acvr1b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0.52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0.52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hsd17b4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0.51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hsd17b8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0.50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lfng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0.49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0.49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mapk3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0.49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0.49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tp53bp1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0.47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0.47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4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sdc4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0.46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</a:rPr>
                        <a:t>0.46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8230235" y="5113020"/>
            <a:ext cx="376555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brown = </a:t>
            </a:r>
            <a:r>
              <a:rPr lang="zh-CN" altLang="en-US" dirty="0"/>
              <a:t>高风险 </a:t>
            </a:r>
            <a:r>
              <a:rPr lang="en-US" altLang="zh-CN" dirty="0"/>
              <a:t>/ </a:t>
            </a:r>
            <a:r>
              <a:rPr lang="zh-CN" altLang="en-US" dirty="0"/>
              <a:t>高增殖</a:t>
            </a:r>
            <a:endParaRPr lang="en-US" altLang="zh-CN" dirty="0"/>
          </a:p>
          <a:p>
            <a:r>
              <a:rPr lang="zh-CN" altLang="en-US" dirty="0"/>
              <a:t>（细胞分裂、</a:t>
            </a:r>
            <a:r>
              <a:rPr lang="en-US" altLang="zh-CN" dirty="0"/>
              <a:t>DNA</a:t>
            </a:r>
            <a:r>
              <a:rPr lang="zh-CN" altLang="en-US" dirty="0"/>
              <a:t>复制、增值速度）</a:t>
            </a:r>
            <a:endParaRPr lang="zh-CN" altLang="en-US" b="0" i="0" dirty="0">
              <a:solidFill>
                <a:srgbClr val="191B1F"/>
              </a:solidFill>
              <a:effectLst/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47088" y="5844134"/>
            <a:ext cx="37489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red = </a:t>
            </a:r>
            <a:r>
              <a:rPr lang="zh-CN" altLang="en-US" dirty="0"/>
              <a:t>低风险 </a:t>
            </a:r>
            <a:r>
              <a:rPr lang="en-US" altLang="zh-CN" dirty="0"/>
              <a:t>/ </a:t>
            </a:r>
            <a:r>
              <a:rPr lang="zh-CN" altLang="en-US" dirty="0"/>
              <a:t>分化好</a:t>
            </a:r>
            <a:endParaRPr lang="en-US" altLang="zh-CN" dirty="0"/>
          </a:p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思源黑体 CN" panose="020B0500000000000000" pitchFamily="34" charset="-122"/>
                <a:ea typeface="思源黑体 CN" panose="020B0500000000000000" pitchFamily="34" charset="-122"/>
              </a:rPr>
              <a:t>（生长受控、分化程度、激素相关）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69278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数据划分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——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PAM50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亚型分层抽样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45440" y="1762760"/>
            <a:ext cx="5007610" cy="41509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为什么分层？</a:t>
            </a: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防止训练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/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测试集亚型分布失衡</a:t>
            </a:r>
          </a:p>
          <a:p>
            <a:pPr fontAlgn="auto">
              <a:lnSpc>
                <a:spcPct val="150000"/>
              </a:lnSpc>
            </a:pPr>
            <a:endParaRPr lang="zh-CN" altLang="en-US" b="1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如何分层？</a:t>
            </a:r>
          </a:p>
          <a:p>
            <a:pPr fontAlgn="auto">
              <a:lnSpc>
                <a:spcPct val="150000"/>
              </a:lnSpc>
            </a:pPr>
            <a:r>
              <a:rPr lang="zh-CN" altLang="en-US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合并稀有亚型（</a:t>
            </a:r>
            <a:r>
              <a:rPr lang="en-US" altLang="zh-CN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NC, Normal </a:t>
            </a:r>
            <a:r>
              <a:rPr lang="en-US" altLang="en-US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→</a:t>
            </a:r>
            <a:r>
              <a:rPr lang="en-US" altLang="zh-CN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"Other"</a:t>
            </a:r>
            <a:r>
              <a:rPr lang="zh-CN" altLang="en-US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）</a:t>
            </a:r>
          </a:p>
          <a:p>
            <a:pPr fontAlgn="auto">
              <a:lnSpc>
                <a:spcPct val="150000"/>
              </a:lnSpc>
            </a:pPr>
            <a:r>
              <a:rPr lang="zh-CN" altLang="en-US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按最终</a:t>
            </a:r>
            <a:r>
              <a:rPr lang="en-US" altLang="zh-CN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5</a:t>
            </a:r>
            <a:r>
              <a:rPr lang="zh-CN" altLang="en-US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类分层（</a:t>
            </a:r>
            <a:r>
              <a:rPr lang="en-US" altLang="zh-CN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LumA/B, Her2, Basal, Other</a:t>
            </a:r>
            <a:r>
              <a:rPr lang="zh-CN" altLang="en-US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）</a:t>
            </a:r>
          </a:p>
          <a:p>
            <a:pPr fontAlgn="auto">
              <a:lnSpc>
                <a:spcPct val="150000"/>
              </a:lnSpc>
            </a:pPr>
            <a:endParaRPr lang="zh-CN" altLang="en-US" b="1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划分结果：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训练集：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1507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样本（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80%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）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测试集：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377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样本（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20%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）</a:t>
            </a:r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5346700" y="2072005"/>
            <a:ext cx="6487160" cy="40239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69278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LASSO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5440" y="1762760"/>
            <a:ext cx="5988685" cy="4665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使用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10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折交叉验证，搜索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100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个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λ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值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（0.0001 ~ 10）</a:t>
            </a:r>
            <a:endParaRPr lang="zh-CN" altLang="en-US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得到最优正则化参数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λ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：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0.008302</a:t>
            </a:r>
          </a:p>
          <a:p>
            <a:pPr fontAlgn="auto">
              <a:lnSpc>
                <a:spcPct val="150000"/>
              </a:lnSpc>
            </a:pPr>
            <a:endParaRPr lang="en-US" altLang="zh-CN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在此最优参数下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，LASSO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选出了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23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个显著预测因子</a:t>
            </a: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60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个候选特征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</a:t>
            </a:r>
            <a:r>
              <a:rPr lang="en-US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23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个非零系数变量</a:t>
            </a:r>
          </a:p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19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个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hub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基因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+ 4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个临床变量）</a:t>
            </a:r>
          </a:p>
          <a:p>
            <a:pPr fontAlgn="auto">
              <a:lnSpc>
                <a:spcPct val="150000"/>
              </a:lnSpc>
            </a:pPr>
            <a:endParaRPr lang="en-US" altLang="zh-CN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变量整体性原则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：分类变量的所有哑变量应同时进入或退出模型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，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如果一个分类变量的任意一个哑变量被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LASSO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选中，则保留该变量的所有哑变量。</a:t>
            </a: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2133604"/>
              </p:ext>
            </p:extLst>
          </p:nvPr>
        </p:nvGraphicFramePr>
        <p:xfrm>
          <a:off x="6838950" y="824865"/>
          <a:ext cx="4781550" cy="5867400"/>
        </p:xfrm>
        <a:graphic>
          <a:graphicData uri="http://schemas.openxmlformats.org/drawingml/2006/table">
            <a:tbl>
              <a:tblPr/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9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n-ea"/>
                        </a:rPr>
                        <a:t>序号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n-ea"/>
                        </a:rPr>
                        <a:t>特征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  <a:cs typeface="+mn-ea"/>
                        </a:rPr>
                        <a:t>LASSO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n-ea"/>
                          <a:cs typeface="+mn-ea"/>
                        </a:rPr>
                        <a:t>系数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 dirty="0" err="1">
                          <a:solidFill>
                            <a:srgbClr val="FF0000"/>
                          </a:solidFill>
                          <a:latin typeface="+mn-ea"/>
                        </a:rPr>
                        <a:t>lymph_log_scaled</a:t>
                      </a:r>
                      <a:endParaRPr lang="en-US" altLang="zh-CN" sz="1600" b="0" i="0" dirty="0">
                        <a:solidFill>
                          <a:srgbClr val="FF0000"/>
                        </a:solidFill>
                        <a:latin typeface="+mn-ea"/>
                      </a:endParaRP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0.128471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 dirty="0" err="1">
                          <a:solidFill>
                            <a:srgbClr val="FF0000"/>
                          </a:solidFill>
                          <a:latin typeface="+mn-ea"/>
                        </a:rPr>
                        <a:t>age_scaled</a:t>
                      </a:r>
                      <a:endParaRPr lang="en-US" altLang="zh-CN" sz="1600" b="0" i="0" dirty="0">
                        <a:solidFill>
                          <a:srgbClr val="FF0000"/>
                        </a:solidFill>
                        <a:latin typeface="+mn-ea"/>
                      </a:endParaRP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0.047792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17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msh6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0.036778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acvr1b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0.032989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3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  <a:latin typeface="+mn-ea"/>
                        </a:rPr>
                        <a:t>cohort_2.0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-0.023486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9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tbx3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0.019151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16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aurka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0.018754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20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ccnb1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0.018731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14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mapk3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0.016689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2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  <a:latin typeface="+mn-ea"/>
                        </a:rPr>
                        <a:t>grade_3.0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0.015314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chek2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0.013008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6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ahnak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-0.011625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bmpr1b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-0.010225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19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srd5a1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0.007722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13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lfng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-0.007359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12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hsd17b8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-0.005894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22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e2f8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0.005044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4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igf1r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-0.003856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7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npnt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0.002726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21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map2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-0.002565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5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aph1b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-0.002018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11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hsd17b4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-0.001203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15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tp53bp1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420"/>
                        </a:lnSpc>
                      </a:pP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+mn-ea"/>
                        </a:rPr>
                        <a:t>0.000205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69278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LASSO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5440" y="1762760"/>
            <a:ext cx="4083050" cy="4665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每条线代表一个变量的系数路径</a:t>
            </a:r>
          </a:p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红线处对应最终选中的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23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个变量</a:t>
            </a: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左侧（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λ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小）：</a:t>
            </a:r>
          </a:p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模型复杂，所有变量有非零系数</a:t>
            </a:r>
          </a:p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右侧（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λ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大）：</a:t>
            </a:r>
          </a:p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模型稀疏，几乎所有系数被压缩至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0</a:t>
            </a:r>
            <a:endParaRPr lang="zh-CN" altLang="en-US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红线处（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λ=0.0083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）：</a:t>
            </a:r>
          </a:p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最优平衡点，保留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23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个信号最强变量</a:t>
            </a: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4600575" y="1011555"/>
            <a:ext cx="7148830" cy="55486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69278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强影响点检测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45440" y="1591310"/>
            <a:ext cx="4083050" cy="4665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在初步拟合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OLS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后，进行一系列诊断</a:t>
            </a: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Cook’s Distance：</a:t>
            </a:r>
          </a:p>
          <a:p>
            <a:pPr fontAlgn="auto">
              <a:lnSpc>
                <a:spcPct val="150000"/>
              </a:lnSpc>
            </a:pPr>
            <a:endParaRPr lang="en-US" altLang="zh-CN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endParaRPr lang="en-US" altLang="zh-CN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强影响点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：</a:t>
            </a:r>
          </a:p>
          <a:p>
            <a:pPr fontAlgn="auto">
              <a:lnSpc>
                <a:spcPct val="150000"/>
              </a:lnSpc>
            </a:pPr>
            <a:endParaRPr lang="en-US" altLang="zh-CN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endParaRPr lang="en-US" altLang="zh-CN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共识别并删除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 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87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个强影响点</a:t>
            </a:r>
          </a:p>
          <a:p>
            <a:pPr fontAlgn="auto">
              <a:lnSpc>
                <a:spcPct val="150000"/>
              </a:lnSpc>
            </a:pPr>
            <a:endParaRPr lang="en-US" altLang="zh-CN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4816475" y="1471930"/>
            <a:ext cx="6932930" cy="43872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49265" y="5859145"/>
            <a:ext cx="620014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注</a:t>
            </a:r>
            <a:r>
              <a:rPr lang="en-US" altLang="zh-CN" sz="1600" b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：</a:t>
            </a:r>
            <a:r>
              <a:rPr lang="zh-CN" altLang="en-US" sz="1600" b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强影响点可能为真实极端病例，实际中需结合临床判断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F9080B5-97CC-B139-7FE6-1D7E81625378}"/>
                  </a:ext>
                </a:extLst>
              </p:cNvPr>
              <p:cNvSpPr txBox="1"/>
              <p:nvPr/>
            </p:nvSpPr>
            <p:spPr>
              <a:xfrm>
                <a:off x="765108" y="2838692"/>
                <a:ext cx="3427711" cy="7287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𝑀𝑆𝐸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F9080B5-97CC-B139-7FE6-1D7E81625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08" y="2838692"/>
                <a:ext cx="3427711" cy="7287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5BAAF99-5F83-261C-3E27-AEA5097A8D78}"/>
                  </a:ext>
                </a:extLst>
              </p:cNvPr>
              <p:cNvSpPr txBox="1"/>
              <p:nvPr/>
            </p:nvSpPr>
            <p:spPr>
              <a:xfrm>
                <a:off x="442595" y="4208928"/>
                <a:ext cx="1607197" cy="611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5BAAF99-5F83-261C-3E27-AEA5097A8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95" y="4208928"/>
                <a:ext cx="1607197" cy="6117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4F71947B-E084-4088-F279-D5F6C586720A}"/>
              </a:ext>
            </a:extLst>
          </p:cNvPr>
          <p:cNvSpPr txBox="1"/>
          <p:nvPr/>
        </p:nvSpPr>
        <p:spPr>
          <a:xfrm>
            <a:off x="1832741" y="4330115"/>
            <a:ext cx="2827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>
                <a:solidFill>
                  <a:srgbClr val="191B1F"/>
                </a:solidFill>
                <a:latin typeface="+mn-ea"/>
                <a:cs typeface="+mn-ea"/>
              </a:rPr>
              <a:t>n=1507 ⇒ </a:t>
            </a:r>
            <a:r>
              <a:rPr lang="zh-CN" altLang="zh-CN" dirty="0">
                <a:solidFill>
                  <a:srgbClr val="191B1F"/>
                </a:solidFill>
                <a:latin typeface="+mn-ea"/>
                <a:cs typeface="+mn-ea"/>
              </a:rPr>
              <a:t>阈值</a:t>
            </a:r>
            <a:r>
              <a:rPr lang="en-US" altLang="zh-CN" dirty="0">
                <a:solidFill>
                  <a:srgbClr val="191B1F"/>
                </a:solidFill>
                <a:latin typeface="+mn-ea"/>
                <a:cs typeface="+mn-ea"/>
              </a:rPr>
              <a:t>=0.0027</a:t>
            </a:r>
            <a:endParaRPr lang="zh-CN" altLang="zh-CN" dirty="0">
              <a:solidFill>
                <a:srgbClr val="191B1F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1121346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异方差性检验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                                         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共线性检验</a:t>
            </a:r>
          </a:p>
        </p:txBody>
      </p:sp>
      <p:pic>
        <p:nvPicPr>
          <p:cNvPr id="5" name="图片 4"/>
          <p:cNvPicPr/>
          <p:nvPr/>
        </p:nvPicPr>
        <p:blipFill>
          <a:blip r:embed="rId4"/>
          <a:stretch>
            <a:fillRect/>
          </a:stretch>
        </p:blipFill>
        <p:spPr>
          <a:xfrm>
            <a:off x="443230" y="1626870"/>
            <a:ext cx="5106670" cy="39585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10005" y="5706110"/>
            <a:ext cx="4239895" cy="9182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无漏斗形等模式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</a:t>
            </a:r>
            <a:r>
              <a:rPr lang="en-US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满足同方差</a:t>
            </a: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84695" y="5706110"/>
            <a:ext cx="4239895" cy="9182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所有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VIF &lt; 5 </a:t>
            </a:r>
            <a:r>
              <a:rPr lang="en-US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无严重共线性</a:t>
            </a: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endParaRPr lang="zh-CN" altLang="en-US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6338570" y="1626870"/>
          <a:ext cx="5410835" cy="3824280"/>
        </p:xfrm>
        <a:graphic>
          <a:graphicData uri="http://schemas.openxmlformats.org/drawingml/2006/table">
            <a:tbl>
              <a:tblPr/>
              <a:tblGrid>
                <a:gridCol w="1327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9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53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变量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VIF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变量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VIF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3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grade_3.0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4.45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hsd17b4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1.48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grade_2.0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3.55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tp53bp1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1.48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aurka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2.98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lfng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1.46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aph1b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2.45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acvr1b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1.45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ccnb1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2.28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map2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1.45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igf1r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1.86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grade_nan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1.45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cohort_3.0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1.85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npnt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1.44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ahnak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1.78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cohort_4.0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1.40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msh6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1.73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e2f8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1.39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bmpr1b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1.68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mapk3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1.38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srd5a1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1.64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tbx3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1.38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chek2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1.57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cohort_5.0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1.31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cohort_2.0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1.56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age_scaled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1.22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hsd17b8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1.51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lymph_log_scaled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ts val="192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n-ea"/>
                        </a:rPr>
                        <a:t>1.10</a:t>
                      </a:r>
                    </a:p>
                  </a:txBody>
                  <a:tcPr marL="13017" marR="13017" marT="130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69278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最终模型：性能改进</a:t>
            </a:r>
          </a:p>
        </p:txBody>
      </p:sp>
      <p:graphicFrame>
        <p:nvGraphicFramePr>
          <p:cNvPr id="7" name="表格 6"/>
          <p:cNvGraphicFramePr/>
          <p:nvPr>
            <p:extLst>
              <p:ext uri="{D42A27DB-BD31-4B8C-83A1-F6EECF244321}">
                <p14:modId xmlns:p14="http://schemas.microsoft.com/office/powerpoint/2010/main" val="1646094437"/>
              </p:ext>
            </p:extLst>
          </p:nvPr>
        </p:nvGraphicFramePr>
        <p:xfrm>
          <a:off x="537210" y="1564640"/>
          <a:ext cx="10883265" cy="4389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72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6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8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b="1" dirty="0">
                          <a:effectLst/>
                        </a:rPr>
                        <a:t>指标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b="1" dirty="0">
                          <a:effectLst/>
                        </a:rPr>
                        <a:t>初始模型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b="1" dirty="0">
                          <a:effectLst/>
                        </a:rPr>
                        <a:t>最终模型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b="1" dirty="0">
                          <a:effectLst/>
                        </a:rPr>
                        <a:t>解读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effectLst/>
                        </a:rPr>
                        <a:t>样本量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effectLst/>
                        </a:rPr>
                        <a:t>1,507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effectLst/>
                        </a:rPr>
                        <a:t>1,420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effectLst/>
                        </a:rPr>
                        <a:t>删除了 87 个强影响点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effectLst/>
                        </a:rPr>
                        <a:t>R²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effectLst/>
                        </a:rPr>
                        <a:t>0.161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effectLst/>
                        </a:rPr>
                        <a:t>0.223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effectLst/>
                        </a:rPr>
                        <a:t>解释力提升 39%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effectLst/>
                        </a:rPr>
                        <a:t>调整 R²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effectLst/>
                        </a:rPr>
                        <a:t>0.145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effectLst/>
                        </a:rPr>
                        <a:t>0.207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effectLst/>
                        </a:rPr>
                        <a:t>考虑变量数后</a:t>
                      </a:r>
                      <a:r>
                        <a:rPr lang="zh-CN" altLang="en-US" sz="1800" dirty="0">
                          <a:effectLst/>
                        </a:rPr>
                        <a:t>的解释力</a:t>
                      </a:r>
                      <a:r>
                        <a:rPr lang="en-US" altLang="zh-CN" sz="1800" dirty="0">
                          <a:effectLst/>
                        </a:rPr>
                        <a:t>提升 43%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effectLst/>
                        </a:rPr>
                        <a:t>残差偏度（</a:t>
                      </a:r>
                      <a:r>
                        <a:rPr lang="en-US" altLang="zh-CN" sz="1800" dirty="0">
                          <a:effectLst/>
                        </a:rPr>
                        <a:t>Skew</a:t>
                      </a:r>
                      <a:r>
                        <a:rPr lang="zh-CN" altLang="en-US" sz="1800" dirty="0">
                          <a:effectLst/>
                        </a:rPr>
                        <a:t>）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effectLst/>
                        </a:rPr>
                        <a:t>-0.592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effectLst/>
                        </a:rPr>
                        <a:t>0.215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effectLst/>
                        </a:rPr>
                        <a:t>绝对值更接近 </a:t>
                      </a:r>
                      <a:r>
                        <a:rPr lang="en-US" altLang="zh-CN" sz="1800" dirty="0">
                          <a:effectLst/>
                        </a:rPr>
                        <a:t>0</a:t>
                      </a:r>
                      <a:r>
                        <a:rPr lang="zh-CN" altLang="en-US" sz="1800" dirty="0">
                          <a:effectLst/>
                        </a:rPr>
                        <a:t>，分布更对称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73728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effectLst/>
                        </a:rPr>
                        <a:t>残差峰度（</a:t>
                      </a:r>
                      <a:r>
                        <a:rPr lang="en-US" altLang="zh-CN" sz="1800" dirty="0">
                          <a:effectLst/>
                        </a:rPr>
                        <a:t>Skew</a:t>
                      </a:r>
                      <a:r>
                        <a:rPr lang="zh-CN" altLang="en-US" sz="1800" dirty="0">
                          <a:effectLst/>
                        </a:rPr>
                        <a:t>）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effectLst/>
                        </a:rPr>
                        <a:t>7.670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  <a:effectLst/>
                        </a:rPr>
                        <a:t>2.821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effectLst/>
                        </a:rPr>
                        <a:t>数值趋于 </a:t>
                      </a:r>
                      <a:r>
                        <a:rPr lang="en-US" altLang="zh-CN" sz="1800" dirty="0">
                          <a:effectLst/>
                        </a:rPr>
                        <a:t>3</a:t>
                      </a:r>
                      <a:r>
                        <a:rPr lang="zh-CN" altLang="en-US" sz="1800" dirty="0">
                          <a:effectLst/>
                        </a:rPr>
                        <a:t>，尾部形态更接近正态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6943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残差自相关</a:t>
                      </a:r>
                      <a:r>
                        <a:rPr lang="en-US" altLang="zh-CN" sz="1800" dirty="0">
                          <a:effectLst/>
                        </a:rPr>
                        <a:t>（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+mn-ea"/>
                        </a:rPr>
                        <a:t>D-W</a:t>
                      </a:r>
                      <a:r>
                        <a:rPr lang="en-US" altLang="zh-CN" sz="1800" dirty="0">
                          <a:effectLst/>
                        </a:rPr>
                        <a:t>）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1.969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effectLst/>
                        </a:rPr>
                        <a:t>1.949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残差在序列上独立（理想值 </a:t>
                      </a:r>
                      <a:r>
                        <a:rPr lang="en-US" altLang="zh-CN" sz="1800" dirty="0">
                          <a:effectLst/>
                        </a:rPr>
                        <a:t>≈ 2</a:t>
                      </a:r>
                      <a:r>
                        <a:rPr lang="zh-CN" altLang="en-US" sz="1800" dirty="0">
                          <a:effectLst/>
                        </a:rPr>
                        <a:t>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effectLst/>
                        </a:rPr>
                        <a:t>共线性（Cond. No.）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effectLst/>
                        </a:rPr>
                        <a:t>20.0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effectLst/>
                        </a:rPr>
                        <a:t>20.1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20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dirty="0" err="1">
                          <a:effectLst/>
                        </a:rPr>
                        <a:t>无严重共线性</a:t>
                      </a:r>
                      <a:r>
                        <a:rPr lang="en-US" altLang="zh-CN" sz="1800" dirty="0">
                          <a:effectLst/>
                        </a:rPr>
                        <a:t>（&lt; 30 安全）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69278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最终模型：回归结果</a:t>
            </a:r>
          </a:p>
        </p:txBody>
      </p:sp>
      <p:pic>
        <p:nvPicPr>
          <p:cNvPr id="3" name="图片 2" descr="截屏2025-12-23 00.36.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600" y="844550"/>
            <a:ext cx="7202805" cy="59315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43230" y="3071813"/>
            <a:ext cx="5080000" cy="1476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8</a:t>
            </a:r>
            <a:r>
              <a:rPr lang="zh-CN" altLang="en-US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个显著变量 (p &lt; 0.05)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含 4 临床 + 4 基因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zh-CN" altLang="en-US" sz="1800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4</a:t>
            </a:r>
            <a:r>
              <a:rPr lang="en-US" altLang="zh-CN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</a:t>
            </a:r>
            <a:r>
              <a:rPr lang="zh-CN" altLang="en-US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个边缘显著变量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(0.05 &lt; p &lt; 0.10)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D0EF37-DF9E-0CDA-BF5A-E73E9C577DB0}"/>
              </a:ext>
            </a:extLst>
          </p:cNvPr>
          <p:cNvSpPr/>
          <p:nvPr/>
        </p:nvSpPr>
        <p:spPr>
          <a:xfrm>
            <a:off x="4643120" y="1889760"/>
            <a:ext cx="7105968" cy="142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DFC72E-9872-E460-41D6-6CC55BA986D5}"/>
              </a:ext>
            </a:extLst>
          </p:cNvPr>
          <p:cNvSpPr/>
          <p:nvPr/>
        </p:nvSpPr>
        <p:spPr>
          <a:xfrm>
            <a:off x="4643120" y="1538605"/>
            <a:ext cx="7105968" cy="142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0F9F85-FD11-C316-EE3B-4C6C3CEF9B71}"/>
              </a:ext>
            </a:extLst>
          </p:cNvPr>
          <p:cNvSpPr/>
          <p:nvPr/>
        </p:nvSpPr>
        <p:spPr>
          <a:xfrm>
            <a:off x="4643120" y="2852738"/>
            <a:ext cx="7105968" cy="142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8D0A008-0CC0-081B-2EC7-DF4892D091FE}"/>
              </a:ext>
            </a:extLst>
          </p:cNvPr>
          <p:cNvSpPr/>
          <p:nvPr/>
        </p:nvSpPr>
        <p:spPr>
          <a:xfrm>
            <a:off x="4642802" y="4114800"/>
            <a:ext cx="7105968" cy="142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DFB45B-AA2D-877D-5708-E6AEFBC2752B}"/>
              </a:ext>
            </a:extLst>
          </p:cNvPr>
          <p:cNvSpPr/>
          <p:nvPr/>
        </p:nvSpPr>
        <p:spPr>
          <a:xfrm>
            <a:off x="4642802" y="4452621"/>
            <a:ext cx="7105968" cy="142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CBCAD0-8B7F-AE03-1BC5-1C24E2F44179}"/>
              </a:ext>
            </a:extLst>
          </p:cNvPr>
          <p:cNvSpPr/>
          <p:nvPr/>
        </p:nvSpPr>
        <p:spPr>
          <a:xfrm>
            <a:off x="4642802" y="4814411"/>
            <a:ext cx="7105968" cy="142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34048E-91DD-DA47-B7AD-6C1F5FCD9E46}"/>
              </a:ext>
            </a:extLst>
          </p:cNvPr>
          <p:cNvSpPr/>
          <p:nvPr/>
        </p:nvSpPr>
        <p:spPr>
          <a:xfrm>
            <a:off x="4642802" y="5516881"/>
            <a:ext cx="7105968" cy="142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BDAB0B-43C7-BBD6-7D79-D47956A85A5D}"/>
              </a:ext>
            </a:extLst>
          </p:cNvPr>
          <p:cNvSpPr/>
          <p:nvPr/>
        </p:nvSpPr>
        <p:spPr>
          <a:xfrm>
            <a:off x="4642802" y="6066128"/>
            <a:ext cx="7105968" cy="142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69278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显著预测因子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——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临床变量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/>
              <p:cNvGraphicFramePr/>
              <p:nvPr>
                <p:extLst>
                  <p:ext uri="{D42A27DB-BD31-4B8C-83A1-F6EECF244321}">
                    <p14:modId xmlns:p14="http://schemas.microsoft.com/office/powerpoint/2010/main" val="1263140508"/>
                  </p:ext>
                </p:extLst>
              </p:nvPr>
            </p:nvGraphicFramePr>
            <p:xfrm>
              <a:off x="443230" y="1762760"/>
              <a:ext cx="11353165" cy="4137533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18002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10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519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53986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62280"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b="1" dirty="0" err="1"/>
                            <a:t>变量</a:t>
                          </a:r>
                          <a:endParaRPr lang="en-US" altLang="zh-CN" sz="1600" b="1" dirty="0"/>
                        </a:p>
                      </a:txBody>
                      <a:tcPr marL="0" marR="0" marT="0" marB="0" anchor="ctr"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b="1" dirty="0" err="1"/>
                            <a:t>系数</a:t>
                          </a:r>
                          <a:endParaRPr lang="en-US" altLang="zh-CN" sz="1600" b="1" dirty="0"/>
                        </a:p>
                      </a:txBody>
                      <a:tcPr marL="0" marR="0" marT="0" marB="0" anchor="ctr"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b="1" dirty="0"/>
                            <a:t>95% CI</a:t>
                          </a:r>
                        </a:p>
                      </a:txBody>
                      <a:tcPr marL="0" marR="0" marT="0" marB="0" anchor="ctr"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zh-CN" altLang="en-US" sz="1600" b="1" dirty="0"/>
                            <a:t>含义</a:t>
                          </a:r>
                          <a:r>
                            <a:rPr lang="zh-CN" altLang="en-US" sz="1600" b="0" dirty="0"/>
                            <a:t>（在控制其他变量后）</a:t>
                          </a:r>
                        </a:p>
                      </a:txBody>
                      <a:tcPr marL="0" marR="0" marT="0" marB="0" anchor="ctr"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dirty="0" err="1"/>
                            <a:t>lymph_log_scaled</a:t>
                          </a:r>
                          <a:endParaRPr lang="en-US" altLang="zh-CN" sz="1600" dirty="0"/>
                        </a:p>
                      </a:txBody>
                      <a:tcPr marL="0" marR="0" marT="0" marB="0" anchor="ctr"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/>
                            <a:t>+0.126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/>
                            <a:t>[0.107, 0.145]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zh-CN" altLang="en-US" sz="1600" dirty="0"/>
                            <a:t>标准化后的淋巴结数量每增加 </a:t>
                          </a:r>
                          <a:r>
                            <a:rPr lang="en-US" altLang="zh-CN" sz="1600" dirty="0"/>
                            <a:t>1%</a:t>
                          </a:r>
                          <a:r>
                            <a:rPr lang="zh-CN" altLang="en-US" sz="1600" dirty="0"/>
                            <a:t>，肿瘤的大小平均增加约 </a:t>
                          </a:r>
                          <a:r>
                            <a:rPr lang="en-US" altLang="zh-CN" sz="1600" dirty="0"/>
                            <a:t>0.126%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dirty="0" err="1"/>
                            <a:t>age_scaled</a:t>
                          </a:r>
                          <a:endParaRPr lang="en-US" altLang="zh-CN" sz="1600" dirty="0"/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/>
                            <a:t>+0.042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/>
                            <a:t>[0.023, 0.062]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600" dirty="0"/>
                            <a:t>年龄每增加 </a:t>
                          </a:r>
                          <a:r>
                            <a:rPr lang="en-US" altLang="zh-CN" sz="1600" dirty="0"/>
                            <a:t>1 </a:t>
                          </a:r>
                          <a:r>
                            <a:rPr lang="zh-CN" altLang="en-US" sz="1600" dirty="0"/>
                            <a:t>个标准差（标准化后的年龄每增加</a:t>
                          </a:r>
                          <a:r>
                            <a:rPr lang="en-US" altLang="zh-CN" sz="1600" dirty="0"/>
                            <a:t>1</a:t>
                          </a:r>
                          <a:r>
                            <a:rPr lang="zh-CN" altLang="en-US" sz="1600" dirty="0"/>
                            <a:t>岁），肿瘤的大小平均增加约 </a:t>
                          </a:r>
                          <a:r>
                            <a:rPr lang="en-US" altLang="zh-CN" sz="1600" dirty="0"/>
                            <a:t>4.3%</a:t>
                          </a:r>
                          <a:r>
                            <a:rPr lang="zh-CN" altLang="en-US" sz="1600" dirty="0"/>
                            <a:t>（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zh-CN" altLang="zh-CN" sz="180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0.042</m:t>
                                  </m:r>
                                </m:sup>
                              </m:sSup>
                              <m:r>
                                <a:rPr lang="en-US" altLang="zh-C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−1≈0.0429=4.29%</m:t>
                              </m:r>
                            </m:oMath>
                          </a14:m>
                          <a:r>
                            <a:rPr lang="zh-CN" altLang="en-US" sz="1600" dirty="0"/>
                            <a:t>）</a:t>
                          </a:r>
                          <a:endParaRPr lang="en-US" altLang="zh-CN" sz="1600" dirty="0"/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dirty="0"/>
                            <a:t>grade_3.0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/>
                            <a:t>+0.108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/>
                            <a:t>[0.033, 0.183]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/>
                            <a:t>Grade 3 </a:t>
                          </a:r>
                          <a:r>
                            <a:rPr lang="zh-CN" altLang="en-US" sz="1600" dirty="0"/>
                            <a:t>组患者的肿瘤平均大小是 </a:t>
                          </a:r>
                          <a:r>
                            <a:rPr lang="en-US" altLang="zh-CN" sz="1600" dirty="0"/>
                            <a:t>Grade 1 </a:t>
                          </a:r>
                          <a:r>
                            <a:rPr lang="zh-CN" altLang="en-US" sz="1600" dirty="0"/>
                            <a:t>组（参照组）的 </a:t>
                          </a:r>
                          <a:r>
                            <a:rPr lang="en-US" altLang="zh-CN" sz="1600" dirty="0"/>
                            <a:t>1.11 </a:t>
                          </a:r>
                          <a:r>
                            <a:rPr lang="zh-CN" altLang="en-US" sz="1600" dirty="0"/>
                            <a:t>倍（高出 </a:t>
                          </a:r>
                          <a:r>
                            <a:rPr lang="en-US" altLang="zh-CN" sz="1600" dirty="0"/>
                            <a:t>11.4%</a:t>
                          </a:r>
                          <a:r>
                            <a:rPr lang="zh-CN" altLang="en-US" sz="1600" dirty="0"/>
                            <a:t>）（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zh-CN" altLang="zh-CN" sz="180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𝛽</m:t>
                                  </m:r>
                                </m:sup>
                              </m:sSup>
                              <m:r>
                                <a:rPr lang="en-US" altLang="zh-C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zh-CN" altLang="zh-C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0.108</m:t>
                                  </m:r>
                                </m:sup>
                              </m:sSup>
                              <m:r>
                                <a:rPr lang="en-US" altLang="zh-C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≈1.114</m:t>
                              </m:r>
                            </m:oMath>
                          </a14:m>
                          <a:r>
                            <a:rPr lang="zh-CN" altLang="en-US" sz="1600" dirty="0"/>
                            <a:t>）</a:t>
                          </a:r>
                          <a:endParaRPr lang="en-US" altLang="zh-CN" sz="1600" dirty="0"/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dirty="0"/>
                            <a:t>cohort_2.0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dirty="0"/>
                            <a:t>-0.076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dirty="0"/>
                            <a:t>[-0.137, -0.016]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/>
                            <a:t>Cohort 2 </a:t>
                          </a:r>
                          <a:r>
                            <a:rPr lang="zh-CN" altLang="en-US" sz="1600" dirty="0"/>
                            <a:t>组患者的肿瘤平均大小是 </a:t>
                          </a:r>
                          <a:r>
                            <a:rPr lang="en-US" altLang="zh-CN" sz="1600" dirty="0"/>
                            <a:t>Cohort 1 </a:t>
                          </a:r>
                          <a:r>
                            <a:rPr lang="zh-CN" altLang="en-US" sz="1600" dirty="0"/>
                            <a:t>组（参照组）的 </a:t>
                          </a:r>
                          <a:r>
                            <a:rPr lang="en-US" altLang="zh-CN" sz="1600" dirty="0"/>
                            <a:t>0.93 </a:t>
                          </a:r>
                          <a:r>
                            <a:rPr lang="zh-CN" altLang="en-US" sz="1600" dirty="0"/>
                            <a:t>倍（降低 </a:t>
                          </a:r>
                          <a:r>
                            <a:rPr lang="en-US" altLang="zh-CN" sz="1600" dirty="0"/>
                            <a:t>7.3%</a:t>
                          </a:r>
                          <a:r>
                            <a:rPr lang="zh-CN" altLang="en-US" sz="1600" dirty="0"/>
                            <a:t>）（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zh-CN" altLang="zh-CN" sz="180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𝛽</m:t>
                                  </m:r>
                                </m:sup>
                              </m:sSup>
                              <m:r>
                                <a:rPr lang="en-US" altLang="zh-C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zh-CN" altLang="zh-C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−0.076</m:t>
                                  </m:r>
                                </m:sup>
                              </m:sSup>
                              <m:r>
                                <a:rPr lang="en-US" altLang="zh-C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≈0.927</m:t>
                              </m:r>
                            </m:oMath>
                          </a14:m>
                          <a:r>
                            <a:rPr lang="zh-CN" altLang="en-US" sz="1600" dirty="0"/>
                            <a:t>）</a:t>
                          </a:r>
                          <a:endParaRPr lang="en-US" altLang="zh-CN" sz="1600" dirty="0"/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/>
              <p:cNvGraphicFramePr/>
              <p:nvPr>
                <p:extLst>
                  <p:ext uri="{D42A27DB-BD31-4B8C-83A1-F6EECF244321}">
                    <p14:modId xmlns:p14="http://schemas.microsoft.com/office/powerpoint/2010/main" val="1263140508"/>
                  </p:ext>
                </p:extLst>
              </p:nvPr>
            </p:nvGraphicFramePr>
            <p:xfrm>
              <a:off x="443230" y="1762760"/>
              <a:ext cx="11353165" cy="4137533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18002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10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519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53986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b="1" dirty="0" err="1"/>
                            <a:t>变量</a:t>
                          </a:r>
                          <a:endParaRPr lang="en-US" altLang="zh-CN" sz="1600" b="1" dirty="0"/>
                        </a:p>
                      </a:txBody>
                      <a:tcPr marL="0" marR="0" marT="0" marB="0" anchor="ctr"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b="1" dirty="0" err="1"/>
                            <a:t>系数</a:t>
                          </a:r>
                          <a:endParaRPr lang="en-US" altLang="zh-CN" sz="1600" b="1" dirty="0"/>
                        </a:p>
                      </a:txBody>
                      <a:tcPr marL="0" marR="0" marT="0" marB="0" anchor="ctr"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b="1" dirty="0"/>
                            <a:t>95% CI</a:t>
                          </a:r>
                        </a:p>
                      </a:txBody>
                      <a:tcPr marL="0" marR="0" marT="0" marB="0" anchor="ctr"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zh-CN" altLang="en-US" sz="1600" b="1" dirty="0"/>
                            <a:t>含义</a:t>
                          </a:r>
                          <a:r>
                            <a:rPr lang="zh-CN" altLang="en-US" sz="1600" b="0" dirty="0"/>
                            <a:t>（在控制其他变量后）</a:t>
                          </a:r>
                        </a:p>
                      </a:txBody>
                      <a:tcPr marL="0" marR="0" marT="0" marB="0" anchor="ctr"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dirty="0" err="1"/>
                            <a:t>lymph_log_scaled</a:t>
                          </a:r>
                          <a:endParaRPr lang="en-US" altLang="zh-CN" sz="1600" dirty="0"/>
                        </a:p>
                      </a:txBody>
                      <a:tcPr marL="0" marR="0" marT="0" marB="0" anchor="ctr"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/>
                            <a:t>+0.126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/>
                            <a:t>[0.107, 0.145]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zh-CN" altLang="en-US" sz="1600" dirty="0"/>
                            <a:t>标准化后的淋巴结数量每增加 </a:t>
                          </a:r>
                          <a:r>
                            <a:rPr lang="en-US" altLang="zh-CN" sz="1600" dirty="0"/>
                            <a:t>1%</a:t>
                          </a:r>
                          <a:r>
                            <a:rPr lang="zh-CN" altLang="en-US" sz="1600" dirty="0"/>
                            <a:t>，肿瘤的大小平均增加约 </a:t>
                          </a:r>
                          <a:r>
                            <a:rPr lang="en-US" altLang="zh-CN" sz="1600" dirty="0"/>
                            <a:t>0.126%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48639"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dirty="0" err="1"/>
                            <a:t>age_scaled</a:t>
                          </a:r>
                          <a:endParaRPr lang="en-US" altLang="zh-CN" sz="1600" dirty="0"/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/>
                            <a:t>+0.042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/>
                            <a:t>[0.023, 0.062]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557" t="-93023" b="-2116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56767"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dirty="0"/>
                            <a:t>grade_3.0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/>
                            <a:t>+0.108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/>
                            <a:t>[0.033, 0.183]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557" t="-190805" b="-1091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56767"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dirty="0"/>
                            <a:t>cohort_2.0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dirty="0"/>
                            <a:t>-0.076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 fontAlgn="ctr">
                            <a:lnSpc>
                              <a:spcPct val="200000"/>
                            </a:lnSpc>
                            <a:buClrTx/>
                            <a:buSzTx/>
                            <a:buFontTx/>
                          </a:pPr>
                          <a:r>
                            <a:rPr lang="en-US" altLang="zh-CN" sz="1600" dirty="0"/>
                            <a:t>[-0.137, -0.016]</a:t>
                          </a:r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T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73557" t="-292486" b="-98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69278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显著预测因子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——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基因变量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43230" y="1675765"/>
            <a:ext cx="252285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Brown </a:t>
            </a:r>
            <a:r>
              <a:rPr lang="zh-CN" altLang="en-US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模块（增殖型）</a:t>
            </a:r>
            <a:endParaRPr lang="en-US" altLang="zh-CN" sz="1800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</p:txBody>
      </p:sp>
      <p:graphicFrame>
        <p:nvGraphicFramePr>
          <p:cNvPr id="6" name="表格 5"/>
          <p:cNvGraphicFramePr/>
          <p:nvPr>
            <p:extLst>
              <p:ext uri="{D42A27DB-BD31-4B8C-83A1-F6EECF244321}">
                <p14:modId xmlns:p14="http://schemas.microsoft.com/office/powerpoint/2010/main" val="3645105768"/>
              </p:ext>
            </p:extLst>
          </p:nvPr>
        </p:nvGraphicFramePr>
        <p:xfrm>
          <a:off x="700405" y="2103755"/>
          <a:ext cx="10485120" cy="731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33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0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0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1"/>
                        <a:t>基因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1"/>
                        <a:t>系数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1"/>
                        <a:t>生物学意义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/>
                        <a:t>msh6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dirty="0"/>
                        <a:t>+0.048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dirty="0"/>
                        <a:t>DNA </a:t>
                      </a:r>
                      <a:r>
                        <a:rPr lang="en-US" altLang="zh-CN" sz="1600" dirty="0" err="1"/>
                        <a:t>错配修复基因，高表达反映复制压力</a:t>
                      </a:r>
                      <a:endParaRPr lang="en-US" altLang="zh-CN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43230" y="3260725"/>
            <a:ext cx="252285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Red </a:t>
            </a:r>
            <a:r>
              <a:rPr lang="zh-CN" altLang="en-US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模块（管腔型）</a:t>
            </a: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2990693"/>
              </p:ext>
            </p:extLst>
          </p:nvPr>
        </p:nvGraphicFramePr>
        <p:xfrm>
          <a:off x="700405" y="3938905"/>
          <a:ext cx="10485120" cy="1463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0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1" dirty="0" err="1"/>
                        <a:t>基因</a:t>
                      </a:r>
                      <a:endParaRPr lang="en-US" altLang="zh-CN" sz="16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1" dirty="0" err="1"/>
                        <a:t>系数</a:t>
                      </a:r>
                      <a:endParaRPr lang="en-US" altLang="zh-CN" sz="16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1" dirty="0" err="1"/>
                        <a:t>生物学意义</a:t>
                      </a:r>
                      <a:endParaRPr lang="en-US" altLang="zh-CN" sz="1600" b="1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/>
                        <a:t>acvr1b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+0.035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属于 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TGF-</a:t>
                      </a:r>
                      <a:r>
                        <a:rPr lang="el-GR" altLang="zh-CN" sz="1600" dirty="0">
                          <a:solidFill>
                            <a:schemeClr val="tx1"/>
                          </a:solidFill>
                        </a:rPr>
                        <a:t>β 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超家族，促进侵袭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转移</a:t>
                      </a:r>
                      <a:endParaRPr lang="en-US" altLang="zh-CN" sz="1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/>
                        <a:t>mapk3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/>
                        <a:t>+0.032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dirty="0"/>
                        <a:t>MAPK/ERK </a:t>
                      </a:r>
                      <a:r>
                        <a:rPr lang="en-US" altLang="zh-CN" sz="1600" dirty="0" err="1"/>
                        <a:t>通路，驱动细胞增殖</a:t>
                      </a:r>
                      <a:endParaRPr lang="en-US" altLang="zh-CN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/>
                        <a:t>tp53bp1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+0.024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DNA 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损伤应答蛋白，维护基因组稳定</a:t>
                      </a:r>
                      <a:endParaRPr lang="en-US" altLang="zh-CN" sz="1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>
            <a:off x="345328" y="259087"/>
            <a:ext cx="1148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数据处理    描述性统计    关联分析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回归建模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 生存分析</a:t>
            </a:r>
          </a:p>
        </p:txBody>
      </p:sp>
      <p:cxnSp>
        <p:nvCxnSpPr>
          <p:cNvPr id="107" name="直接连接符 106"/>
          <p:cNvCxnSpPr/>
          <p:nvPr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5440" y="1011555"/>
            <a:ext cx="69278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预测性能与泛化能力评估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43230" y="1675765"/>
            <a:ext cx="11306810" cy="1615827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整体预测性能</a:t>
            </a:r>
            <a:endParaRPr lang="en-US" altLang="zh-CN" sz="1800" b="1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"/>
            </a:pPr>
            <a:r>
              <a:rPr lang="zh-CN" altLang="en-US" dirty="0">
                <a:solidFill>
                  <a:srgbClr val="191B1F"/>
                </a:solidFill>
                <a:latin typeface="+mn-ea"/>
                <a:cs typeface="+mn-ea"/>
              </a:rPr>
              <a:t>训练</a:t>
            </a:r>
            <a:r>
              <a:rPr lang="zh-CN" altLang="en-US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集样本量</a:t>
            </a:r>
            <a:r>
              <a:rPr lang="en-US" altLang="zh-CN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n = 1,420</a:t>
            </a:r>
            <a:endParaRPr lang="zh-CN" altLang="en-US" sz="1800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"/>
            </a:pPr>
            <a:r>
              <a:rPr lang="en-US" altLang="zh-CN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RMSE = 0.3354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测试集（未考虑异常点）误差仅为训练集（已删除强影响点）的 </a:t>
            </a:r>
            <a:r>
              <a:rPr lang="en-US" altLang="zh-CN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1.36 </a:t>
            </a:r>
            <a:r>
              <a:rPr lang="zh-CN" altLang="en-US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倍，认为模型泛化良好</a:t>
            </a:r>
            <a:endParaRPr lang="en-US" altLang="zh-CN" sz="1800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</p:txBody>
      </p:sp>
      <p:graphicFrame>
        <p:nvGraphicFramePr>
          <p:cNvPr id="3" name="表格 2"/>
          <p:cNvGraphicFramePr/>
          <p:nvPr>
            <p:extLst>
              <p:ext uri="{D42A27DB-BD31-4B8C-83A1-F6EECF244321}">
                <p14:modId xmlns:p14="http://schemas.microsoft.com/office/powerpoint/2010/main" val="3321463524"/>
              </p:ext>
            </p:extLst>
          </p:nvPr>
        </p:nvGraphicFramePr>
        <p:xfrm>
          <a:off x="676910" y="3785622"/>
          <a:ext cx="10485120" cy="1463040"/>
        </p:xfrm>
        <a:graphic>
          <a:graphicData uri="http://schemas.openxmlformats.org/drawingml/2006/table">
            <a:tbl>
              <a:tblPr/>
              <a:tblGrid>
                <a:gridCol w="2975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4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/>
                        <a:t>肿瘤大小区间（分位数）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/>
                        <a:t>近似真实值（log）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 dirty="0"/>
                        <a:t>RMSE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/>
                        <a:t>第 1 四分位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/>
                        <a:t>≈ 2.89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 dirty="0"/>
                        <a:t>0.2844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/>
                        <a:t>第 2 四分位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/>
                        <a:t>≈ 3.14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 dirty="0">
                          <a:solidFill>
                            <a:srgbClr val="FF0000"/>
                          </a:solidFill>
                        </a:rPr>
                        <a:t>0.2051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 dirty="0"/>
                        <a:t>第 3 </a:t>
                      </a:r>
                      <a:r>
                        <a:rPr lang="en-US" altLang="zh-CN" sz="1600" b="0" i="0" dirty="0" err="1"/>
                        <a:t>四分位</a:t>
                      </a:r>
                      <a:endParaRPr lang="en-US" altLang="zh-CN" sz="1600" b="0" i="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/>
                        <a:t>≈ 3.43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 dirty="0"/>
                        <a:t>0.2570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342A2CE-75AB-AE54-ED7F-4CA62EE2D8FF}"/>
              </a:ext>
            </a:extLst>
          </p:cNvPr>
          <p:cNvSpPr txBox="1"/>
          <p:nvPr/>
        </p:nvSpPr>
        <p:spPr>
          <a:xfrm>
            <a:off x="442914" y="3429000"/>
            <a:ext cx="6096000" cy="28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按真实</a:t>
            </a:r>
            <a:r>
              <a:rPr lang="en-US" altLang="zh-CN" sz="18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tumor size </a:t>
            </a:r>
            <a:r>
              <a:rPr lang="zh-CN" altLang="en-US" sz="18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的分位数区间（</a:t>
            </a:r>
            <a:r>
              <a:rPr lang="en-US" altLang="zh-CN" sz="18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±0.2</a:t>
            </a:r>
            <a:r>
              <a:rPr lang="zh-CN" altLang="en-US" sz="18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）计算</a:t>
            </a:r>
            <a:r>
              <a:rPr lang="en-US" altLang="zh-CN" sz="1800" b="1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RMSE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zh-CN" sz="1800" b="1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zh-CN" sz="1800" b="1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zh-CN" sz="1800" b="1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zh-CN" sz="1800" b="1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zh-CN" sz="1800" b="1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"/>
            </a:pPr>
            <a:endParaRPr lang="zh-CN" altLang="en-US" sz="180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"/>
            </a:pPr>
            <a:r>
              <a:rPr lang="zh-CN" altLang="en-US" sz="180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在主要样本密集区间（中位附近），预测误差明显更低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"/>
            </a:pPr>
            <a:r>
              <a:rPr lang="zh-CN" altLang="en-US" sz="180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整体</a:t>
            </a:r>
            <a:r>
              <a:rPr lang="en-US" altLang="zh-CN" sz="180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RMSE </a:t>
            </a:r>
            <a:r>
              <a:rPr lang="zh-CN" altLang="en-US" sz="180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的上升主要由极端值和高异质性样本驱动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9CE737-BC89-BD05-3423-73A21C6A23B5}"/>
              </a:ext>
            </a:extLst>
          </p:cNvPr>
          <p:cNvSpPr txBox="1"/>
          <p:nvPr/>
        </p:nvSpPr>
        <p:spPr>
          <a:xfrm>
            <a:off x="4511040" y="2048686"/>
            <a:ext cx="2976880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"/>
            </a:pPr>
            <a:r>
              <a:rPr lang="zh-CN" altLang="en-US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测试集样本量</a:t>
            </a:r>
            <a:r>
              <a:rPr lang="en-US" altLang="zh-CN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 n = 377</a:t>
            </a:r>
            <a:endParaRPr lang="zh-CN" altLang="en-US" sz="1800" b="0" i="0" dirty="0">
              <a:solidFill>
                <a:srgbClr val="191B1F"/>
              </a:solidFill>
              <a:effectLst/>
              <a:latin typeface="+mn-ea"/>
              <a:cs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"/>
            </a:pPr>
            <a:r>
              <a:rPr lang="en-US" altLang="zh-CN" sz="1800" b="0" i="0" dirty="0">
                <a:solidFill>
                  <a:srgbClr val="191B1F"/>
                </a:solidFill>
                <a:effectLst/>
                <a:latin typeface="+mn-ea"/>
                <a:cs typeface="+mn-ea"/>
              </a:rPr>
              <a:t>RMSE = 0.4550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02*307"/>
  <p:tag name="TABLE_ENDDRAG_RECT" val="6*169*602*30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76*461"/>
  <p:tag name="TABLE_ENDDRAG_RECT" val="529*79*376*46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08*331"/>
  <p:tag name="TABLE_ENDDRAG_RECT" val="501*128*409*33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5*115"/>
  <p:tag name="TABLE_ENDDRAG_RECT" val="55*310*825*115"/>
</p:tagLst>
</file>

<file path=ppt/theme/theme1.xml><?xml version="1.0" encoding="utf-8"?>
<a:theme xmlns:a="http://schemas.openxmlformats.org/drawingml/2006/main" name="1_Office 主题​​">
  <a:themeElements>
    <a:clrScheme name="001-绿色">
      <a:dk1>
        <a:sysClr val="windowText" lastClr="000000"/>
      </a:dk1>
      <a:lt1>
        <a:sysClr val="window" lastClr="FFFFFF"/>
      </a:lt1>
      <a:dk2>
        <a:srgbClr val="44546A"/>
      </a:dk2>
      <a:lt2>
        <a:srgbClr val="FADC6D"/>
      </a:lt2>
      <a:accent1>
        <a:srgbClr val="0A3431"/>
      </a:accent1>
      <a:accent2>
        <a:srgbClr val="174941"/>
      </a:accent2>
      <a:accent3>
        <a:srgbClr val="245D50"/>
      </a:accent3>
      <a:accent4>
        <a:srgbClr val="307260"/>
      </a:accent4>
      <a:accent5>
        <a:srgbClr val="3D866F"/>
      </a:accent5>
      <a:accent6>
        <a:srgbClr val="4A9B7F"/>
      </a:accent6>
      <a:hlink>
        <a:srgbClr val="0A3431"/>
      </a:hlink>
      <a:folHlink>
        <a:srgbClr val="4A9B7F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4482</Words>
  <Application>Microsoft Office PowerPoint</Application>
  <PresentationFormat>宽屏</PresentationFormat>
  <Paragraphs>717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system-ui</vt:lpstr>
      <vt:lpstr>ui-sans-serif</vt:lpstr>
      <vt:lpstr>等线</vt:lpstr>
      <vt:lpstr>思源黑体 CN</vt:lpstr>
      <vt:lpstr>Arial</vt:lpstr>
      <vt:lpstr>Cambria Math</vt:lpstr>
      <vt:lpstr>Wingdings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中山大学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子辰 李</dc:creator>
  <cp:lastModifiedBy>子辰 李</cp:lastModifiedBy>
  <cp:revision>47</cp:revision>
  <dcterms:created xsi:type="dcterms:W3CDTF">2025-12-23T07:16:23Z</dcterms:created>
  <dcterms:modified xsi:type="dcterms:W3CDTF">2025-12-28T06:46:33Z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A58EA658442D8114E5044969DEA94F8C_42</vt:lpwstr>
  </property>
</Properties>
</file>